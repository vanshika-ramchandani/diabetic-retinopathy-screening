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8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9/5/2026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9/5/2026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9/5/2026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9/5/2026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9/5/2026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9/5/2026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ubtitle 3"/>
          <p:cNvSpPr>
            <a:spLocks noGrp="1"/>
          </p:cNvSpPr>
          <p:nvPr>
            <p:ph type="subTitle" idx="1"/>
          </p:nvPr>
        </p:nvSpPr>
        <p:spPr>
          <a:xfrm>
            <a:off x="1245686" y="648614"/>
            <a:ext cx="8534400" cy="1752600"/>
          </a:xfrm>
        </p:spPr>
        <p:txBody>
          <a:bodyPr/>
          <a:lstStyle/>
          <a:p>
            <a:r>
              <a:rPr lang="en-US" sz="2200" b="1">
                <a:solidFill>
                  <a:srgbClr val="0E7C86"/>
                </a:solidFill>
                <a:latin typeface="Calibri" panose="020F0502020204030204" pitchFamily="34" charset="0"/>
                <a:cs typeface="Times New Roman" panose="02020603050405020304" pitchFamily="18" charset="0"/>
              </a:rPr>
              <a:t>NETRA — Neural Explainable Triage for Retinal Assessment</a:t>
            </a:r>
            <a:endParaRPr lang="en-IN" sz="2200" b="1" dirty="0">
              <a:solidFill>
                <a:srgbClr val="0E7C86"/>
              </a:solidFill>
              <a:latin typeface="Calibri" panose="020F0502020204030204" pitchFamily="34"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222500"/>
            <a:ext cx="5924550" cy="3810000"/>
          </a:xfrm>
          <a:prstGeom prst="rect">
            <a:avLst/>
          </a:prstGeom>
          <a:noFill/>
        </p:spPr>
        <p:txBody>
          <a:bodyPr wrap="square" rtlCol="0">
            <a:spAutoFit/>
          </a:bodyPr>
          <a:lstStyle/>
          <a:p>
            <a:r>
              <a:rPr lang="en-US" sz="1500">
                <a:solidFill>
                  <a:srgbClr val="0B2545"/>
                </a:solidFill>
              </a:rPr>
              <a:t>Problem Statement ID – 26038
Problem Statement Title – Explainable AI for Diabetic Retinopathy Screening in Rural India
Theme – MedTech / BioTech / HealthTech
PS Category – Software
Team ID – &lt;&lt;TEAM ID&gt;&gt;
Team Name – &lt;&lt;TEAM NAME&gt;&gt;</a:t>
            </a:r>
            <a:endParaRPr lang="en-IN" sz="1500" b="1" dirty="0">
              <a:solidFill>
                <a:srgbClr val="0B2545"/>
              </a:solidFill>
              <a:cs typeface="Arial" panose="020B0604020202020204"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6" name="Picture 5">
            <a:extLst>
              <a:ext uri="{FF2B5EF4-FFF2-40B4-BE49-F238E27FC236}">
                <a16:creationId xmlns:a16="http://schemas.microsoft.com/office/drawing/2014/main" id="{BDB7CCE4-6EA5-1EDC-47F6-85A48F45E7CB}"/>
              </a:ext>
            </a:extLst>
          </p:cNvPr>
          <p:cNvPicPr>
            <a:picLocks/>
          </p:cNvPicPr>
          <p:nvPr/>
        </p:nvPicPr>
        <p:blipFill>
          <a:blip r:embed="rId3"/>
          <a:stretch>
            <a:fillRect/>
          </a:stretch>
        </p:blipFill>
        <p:spPr>
          <a:xfrm>
            <a:off x="6921500" y="1651000"/>
            <a:ext cx="3073400" cy="3073400"/>
          </a:xfrm>
          <a:prstGeom prst="rect">
            <a:avLst/>
          </a:prstGeom>
        </p:spPr>
      </p:pic>
      <p:sp>
        <p:nvSpPr>
          <p:cNvPr id="7" name="TextBox 6">
            <a:extLst>
              <a:ext uri="{FF2B5EF4-FFF2-40B4-BE49-F238E27FC236}">
                <a16:creationId xmlns:a16="http://schemas.microsoft.com/office/drawing/2014/main" id="{184CA601-1018-8523-532C-D5E455D0155F}"/>
              </a:ext>
            </a:extLst>
          </p:cNvPr>
          <p:cNvSpPr txBox="1"/>
          <p:nvPr/>
        </p:nvSpPr>
        <p:spPr>
          <a:xfrm>
            <a:off x="5969000" y="4826000"/>
            <a:ext cx="4978400" cy="153888"/>
          </a:xfrm>
          <a:prstGeom prst="rect">
            <a:avLst/>
          </a:prstGeom>
          <a:noFill/>
        </p:spPr>
        <p:txBody>
          <a:bodyPr vert="horz" wrap="square" lIns="0" tIns="0" rIns="0" bIns="0" rtlCol="0" anchor="t">
            <a:spAutoFit/>
          </a:bodyPr>
          <a:lstStyle/>
          <a:p>
            <a:pPr algn="ctr"/>
            <a:r>
              <a:rPr lang="en-US" sz="1000" i="1">
                <a:solidFill>
                  <a:srgbClr val="78828C"/>
                </a:solidFill>
              </a:rPr>
              <a:t>Grad-CAM attention on a held-out test image — the evidence behind the grade</a:t>
            </a:r>
            <a:endParaRPr lang="en-IN" sz="1000" i="1">
              <a:solidFill>
                <a:srgbClr val="78828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381000" y="1168400"/>
            <a:ext cx="9271000" cy="223138"/>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r>
              <a:rPr lang="en-US" sz="850" i="1" u="sng">
                <a:solidFill>
                  <a:srgbClr val="78828C"/>
                </a:solidFill>
                <a:cs typeface="Arial" pitchFamily="34" charset="0"/>
              </a:rPr>
              <a:t>Proposed Solution (Describe your Idea/Solution/Prototype)  ·  Detailed explanation of the proposed solution  ·   How it addresses the problem  ·  Innovation and uniqueness of the solution</a:t>
            </a:r>
            <a:endParaRPr lang="en-US" sz="850" i="1" dirty="0">
              <a:solidFill>
                <a:srgbClr val="78828C"/>
              </a:solidFill>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Arrow: Chevron 1">
            <a:extLst>
              <a:ext uri="{FF2B5EF4-FFF2-40B4-BE49-F238E27FC236}">
                <a16:creationId xmlns:a16="http://schemas.microsoft.com/office/drawing/2014/main" id="{A7EC4D26-3DA8-8A21-7752-E1682542AD73}"/>
              </a:ext>
            </a:extLst>
          </p:cNvPr>
          <p:cNvSpPr/>
          <p:nvPr/>
        </p:nvSpPr>
        <p:spPr>
          <a:xfrm>
            <a:off x="381000" y="1625600"/>
            <a:ext cx="1930400" cy="660400"/>
          </a:xfrm>
          <a:prstGeom prst="chevron">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1150" b="1">
                <a:solidFill>
                  <a:srgbClr val="FFFFFF"/>
                </a:solidFill>
                <a:latin typeface="Calibri" panose="020F0502020204030204" pitchFamily="34" charset="0"/>
              </a:rPr>
              <a:t>CAPTURE</a:t>
            </a:r>
          </a:p>
        </p:txBody>
      </p:sp>
      <p:sp>
        <p:nvSpPr>
          <p:cNvPr id="3" name="TextBox 2">
            <a:extLst>
              <a:ext uri="{FF2B5EF4-FFF2-40B4-BE49-F238E27FC236}">
                <a16:creationId xmlns:a16="http://schemas.microsoft.com/office/drawing/2014/main" id="{951B2D92-4847-32E8-66C1-248C5DD86AB7}"/>
              </a:ext>
            </a:extLst>
          </p:cNvPr>
          <p:cNvSpPr txBox="1"/>
          <p:nvPr/>
        </p:nvSpPr>
        <p:spPr>
          <a:xfrm>
            <a:off x="558800" y="2324100"/>
            <a:ext cx="1676400" cy="138499"/>
          </a:xfrm>
          <a:prstGeom prst="rect">
            <a:avLst/>
          </a:prstGeom>
          <a:noFill/>
        </p:spPr>
        <p:txBody>
          <a:bodyPr vert="horz" wrap="square" lIns="0" tIns="0" rIns="0" bIns="0" rtlCol="0" anchor="t">
            <a:spAutoFit/>
          </a:bodyPr>
          <a:lstStyle/>
          <a:p>
            <a:pPr algn="ctr"/>
            <a:r>
              <a:rPr lang="en-IN" sz="900">
                <a:solidFill>
                  <a:srgbClr val="78828C"/>
                </a:solidFill>
              </a:rPr>
              <a:t>portable fundus camera</a:t>
            </a:r>
          </a:p>
        </p:txBody>
      </p:sp>
      <p:sp>
        <p:nvSpPr>
          <p:cNvPr id="4" name="Arrow: Chevron 3">
            <a:extLst>
              <a:ext uri="{FF2B5EF4-FFF2-40B4-BE49-F238E27FC236}">
                <a16:creationId xmlns:a16="http://schemas.microsoft.com/office/drawing/2014/main" id="{4FB66590-0C2D-4CF1-AC6A-8524F5320342}"/>
              </a:ext>
            </a:extLst>
          </p:cNvPr>
          <p:cNvSpPr/>
          <p:nvPr/>
        </p:nvSpPr>
        <p:spPr>
          <a:xfrm>
            <a:off x="2260600" y="1625600"/>
            <a:ext cx="1930400" cy="660400"/>
          </a:xfrm>
          <a:prstGeom prst="chevron">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1150" b="1">
                <a:solidFill>
                  <a:srgbClr val="FFFFFF"/>
                </a:solidFill>
                <a:latin typeface="Calibri" panose="020F0502020204030204" pitchFamily="34" charset="0"/>
              </a:rPr>
              <a:t>QUALITY GATE</a:t>
            </a:r>
          </a:p>
        </p:txBody>
      </p:sp>
      <p:sp>
        <p:nvSpPr>
          <p:cNvPr id="5" name="TextBox 4">
            <a:extLst>
              <a:ext uri="{FF2B5EF4-FFF2-40B4-BE49-F238E27FC236}">
                <a16:creationId xmlns:a16="http://schemas.microsoft.com/office/drawing/2014/main" id="{920E11A1-000A-F610-D470-D31498CE224A}"/>
              </a:ext>
            </a:extLst>
          </p:cNvPr>
          <p:cNvSpPr txBox="1"/>
          <p:nvPr/>
        </p:nvSpPr>
        <p:spPr>
          <a:xfrm>
            <a:off x="2438400" y="2324100"/>
            <a:ext cx="1676400" cy="138499"/>
          </a:xfrm>
          <a:prstGeom prst="rect">
            <a:avLst/>
          </a:prstGeom>
          <a:noFill/>
        </p:spPr>
        <p:txBody>
          <a:bodyPr vert="horz" wrap="square" lIns="0" tIns="0" rIns="0" bIns="0" rtlCol="0" anchor="t">
            <a:spAutoFit/>
          </a:bodyPr>
          <a:lstStyle/>
          <a:p>
            <a:pPr algn="ctr"/>
            <a:r>
              <a:rPr lang="en-IN" sz="900">
                <a:solidFill>
                  <a:srgbClr val="78828C"/>
                </a:solidFill>
              </a:rPr>
              <a:t>focus · illumination · exposure</a:t>
            </a:r>
          </a:p>
        </p:txBody>
      </p:sp>
      <p:sp>
        <p:nvSpPr>
          <p:cNvPr id="8" name="Arrow: Chevron 7">
            <a:extLst>
              <a:ext uri="{FF2B5EF4-FFF2-40B4-BE49-F238E27FC236}">
                <a16:creationId xmlns:a16="http://schemas.microsoft.com/office/drawing/2014/main" id="{BD6D493E-B991-8728-37B9-F340748085D6}"/>
              </a:ext>
            </a:extLst>
          </p:cNvPr>
          <p:cNvSpPr/>
          <p:nvPr/>
        </p:nvSpPr>
        <p:spPr>
          <a:xfrm>
            <a:off x="4140200" y="1625600"/>
            <a:ext cx="1930400" cy="660400"/>
          </a:xfrm>
          <a:prstGeom prst="chevron">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1150" b="1">
                <a:solidFill>
                  <a:srgbClr val="FFFFFF"/>
                </a:solidFill>
                <a:latin typeface="Calibri" panose="020F0502020204030204" pitchFamily="34" charset="0"/>
              </a:rPr>
              <a:t>LESION EVIDENCE</a:t>
            </a:r>
          </a:p>
        </p:txBody>
      </p:sp>
      <p:sp>
        <p:nvSpPr>
          <p:cNvPr id="12" name="TextBox 11">
            <a:extLst>
              <a:ext uri="{FF2B5EF4-FFF2-40B4-BE49-F238E27FC236}">
                <a16:creationId xmlns:a16="http://schemas.microsoft.com/office/drawing/2014/main" id="{DF21CA8B-595E-A0CD-8E92-EB23C4E7151D}"/>
              </a:ext>
            </a:extLst>
          </p:cNvPr>
          <p:cNvSpPr txBox="1"/>
          <p:nvPr/>
        </p:nvSpPr>
        <p:spPr>
          <a:xfrm>
            <a:off x="4318000" y="2324100"/>
            <a:ext cx="1676400" cy="138499"/>
          </a:xfrm>
          <a:prstGeom prst="rect">
            <a:avLst/>
          </a:prstGeom>
          <a:noFill/>
        </p:spPr>
        <p:txBody>
          <a:bodyPr vert="horz" wrap="square" lIns="0" tIns="0" rIns="0" bIns="0" rtlCol="0" anchor="t">
            <a:spAutoFit/>
          </a:bodyPr>
          <a:lstStyle/>
          <a:p>
            <a:pPr algn="ctr"/>
            <a:r>
              <a:rPr lang="en-IN" sz="900">
                <a:solidFill>
                  <a:srgbClr val="78828C"/>
                </a:solidFill>
              </a:rPr>
              <a:t>MA · HE · EX · SE · disc</a:t>
            </a:r>
          </a:p>
        </p:txBody>
      </p:sp>
      <p:sp>
        <p:nvSpPr>
          <p:cNvPr id="13" name="Arrow: Chevron 12">
            <a:extLst>
              <a:ext uri="{FF2B5EF4-FFF2-40B4-BE49-F238E27FC236}">
                <a16:creationId xmlns:a16="http://schemas.microsoft.com/office/drawing/2014/main" id="{B6B33512-3FB8-6FD8-0CFF-10537FD98C92}"/>
              </a:ext>
            </a:extLst>
          </p:cNvPr>
          <p:cNvSpPr/>
          <p:nvPr/>
        </p:nvSpPr>
        <p:spPr>
          <a:xfrm>
            <a:off x="6019800" y="1625600"/>
            <a:ext cx="1930400" cy="660400"/>
          </a:xfrm>
          <a:prstGeom prst="chevron">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1150" b="1">
                <a:solidFill>
                  <a:srgbClr val="FFFFFF"/>
                </a:solidFill>
                <a:latin typeface="Calibri" panose="020F0502020204030204" pitchFamily="34" charset="0"/>
              </a:rPr>
              <a:t>DR GRADE</a:t>
            </a:r>
          </a:p>
        </p:txBody>
      </p:sp>
      <p:sp>
        <p:nvSpPr>
          <p:cNvPr id="14" name="TextBox 13">
            <a:extLst>
              <a:ext uri="{FF2B5EF4-FFF2-40B4-BE49-F238E27FC236}">
                <a16:creationId xmlns:a16="http://schemas.microsoft.com/office/drawing/2014/main" id="{6ED47042-9FB8-EFDD-0B9E-B50440982363}"/>
              </a:ext>
            </a:extLst>
          </p:cNvPr>
          <p:cNvSpPr txBox="1"/>
          <p:nvPr/>
        </p:nvSpPr>
        <p:spPr>
          <a:xfrm>
            <a:off x="6197600" y="2324100"/>
            <a:ext cx="1676400" cy="138499"/>
          </a:xfrm>
          <a:prstGeom prst="rect">
            <a:avLst/>
          </a:prstGeom>
          <a:noFill/>
        </p:spPr>
        <p:txBody>
          <a:bodyPr vert="horz" wrap="square" lIns="0" tIns="0" rIns="0" bIns="0" rtlCol="0" anchor="t">
            <a:spAutoFit/>
          </a:bodyPr>
          <a:lstStyle/>
          <a:p>
            <a:pPr algn="ctr"/>
            <a:r>
              <a:rPr lang="en-IN" sz="900">
                <a:solidFill>
                  <a:srgbClr val="78828C"/>
                </a:solidFill>
              </a:rPr>
              <a:t>ICDR 0–4 + confidence</a:t>
            </a:r>
          </a:p>
        </p:txBody>
      </p:sp>
      <p:sp>
        <p:nvSpPr>
          <p:cNvPr id="15" name="Arrow: Chevron 14">
            <a:extLst>
              <a:ext uri="{FF2B5EF4-FFF2-40B4-BE49-F238E27FC236}">
                <a16:creationId xmlns:a16="http://schemas.microsoft.com/office/drawing/2014/main" id="{AE574BEC-4B05-5186-5656-AD41C6CA392B}"/>
              </a:ext>
            </a:extLst>
          </p:cNvPr>
          <p:cNvSpPr/>
          <p:nvPr/>
        </p:nvSpPr>
        <p:spPr>
          <a:xfrm>
            <a:off x="7899400" y="1625600"/>
            <a:ext cx="1930400" cy="660400"/>
          </a:xfrm>
          <a:prstGeom prst="chevron">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1150" b="1">
                <a:solidFill>
                  <a:srgbClr val="FFFFFF"/>
                </a:solidFill>
                <a:latin typeface="Calibri" panose="020F0502020204030204" pitchFamily="34" charset="0"/>
              </a:rPr>
              <a:t>DUAL CHECK</a:t>
            </a:r>
          </a:p>
        </p:txBody>
      </p:sp>
      <p:sp>
        <p:nvSpPr>
          <p:cNvPr id="16" name="TextBox 15">
            <a:extLst>
              <a:ext uri="{FF2B5EF4-FFF2-40B4-BE49-F238E27FC236}">
                <a16:creationId xmlns:a16="http://schemas.microsoft.com/office/drawing/2014/main" id="{935F563C-9562-B235-10F9-CC02529B7E03}"/>
              </a:ext>
            </a:extLst>
          </p:cNvPr>
          <p:cNvSpPr txBox="1"/>
          <p:nvPr/>
        </p:nvSpPr>
        <p:spPr>
          <a:xfrm>
            <a:off x="8077200" y="2324100"/>
            <a:ext cx="1676400" cy="138499"/>
          </a:xfrm>
          <a:prstGeom prst="rect">
            <a:avLst/>
          </a:prstGeom>
          <a:noFill/>
        </p:spPr>
        <p:txBody>
          <a:bodyPr vert="horz" wrap="square" lIns="0" tIns="0" rIns="0" bIns="0" rtlCol="0" anchor="t">
            <a:spAutoFit/>
          </a:bodyPr>
          <a:lstStyle/>
          <a:p>
            <a:pPr algn="ctr"/>
            <a:r>
              <a:rPr lang="en-IN" sz="900">
                <a:solidFill>
                  <a:srgbClr val="78828C"/>
                </a:solidFill>
              </a:rPr>
              <a:t>CNN vs lesion rules</a:t>
            </a:r>
          </a:p>
        </p:txBody>
      </p:sp>
      <p:sp>
        <p:nvSpPr>
          <p:cNvPr id="17" name="Arrow: Chevron 16">
            <a:extLst>
              <a:ext uri="{FF2B5EF4-FFF2-40B4-BE49-F238E27FC236}">
                <a16:creationId xmlns:a16="http://schemas.microsoft.com/office/drawing/2014/main" id="{4FA66709-3E72-C849-06B3-2B63BEE24A2D}"/>
              </a:ext>
            </a:extLst>
          </p:cNvPr>
          <p:cNvSpPr/>
          <p:nvPr/>
        </p:nvSpPr>
        <p:spPr>
          <a:xfrm>
            <a:off x="9779000" y="1625600"/>
            <a:ext cx="1930400" cy="660400"/>
          </a:xfrm>
          <a:prstGeom prst="chevron">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1150" b="1">
                <a:solidFill>
                  <a:srgbClr val="FFFFFF"/>
                </a:solidFill>
                <a:latin typeface="Calibri" panose="020F0502020204030204" pitchFamily="34" charset="0"/>
              </a:rPr>
              <a:t>REPORT</a:t>
            </a:r>
          </a:p>
        </p:txBody>
      </p:sp>
      <p:sp>
        <p:nvSpPr>
          <p:cNvPr id="18" name="TextBox 17">
            <a:extLst>
              <a:ext uri="{FF2B5EF4-FFF2-40B4-BE49-F238E27FC236}">
                <a16:creationId xmlns:a16="http://schemas.microsoft.com/office/drawing/2014/main" id="{FC609D16-172B-2D1A-BA41-0CDFEAA031F8}"/>
              </a:ext>
            </a:extLst>
          </p:cNvPr>
          <p:cNvSpPr txBox="1"/>
          <p:nvPr/>
        </p:nvSpPr>
        <p:spPr>
          <a:xfrm>
            <a:off x="9956800" y="2324100"/>
            <a:ext cx="1676400" cy="138499"/>
          </a:xfrm>
          <a:prstGeom prst="rect">
            <a:avLst/>
          </a:prstGeom>
          <a:noFill/>
        </p:spPr>
        <p:txBody>
          <a:bodyPr vert="horz" wrap="square" lIns="0" tIns="0" rIns="0" bIns="0" rtlCol="0" anchor="t">
            <a:spAutoFit/>
          </a:bodyPr>
          <a:lstStyle/>
          <a:p>
            <a:pPr algn="ctr"/>
            <a:r>
              <a:rPr lang="en-IN" sz="900">
                <a:solidFill>
                  <a:srgbClr val="78828C"/>
                </a:solidFill>
              </a:rPr>
              <a:t>30-second clinician review</a:t>
            </a:r>
          </a:p>
        </p:txBody>
      </p:sp>
      <p:sp>
        <p:nvSpPr>
          <p:cNvPr id="19" name="Arrow: Down 18">
            <a:extLst>
              <a:ext uri="{FF2B5EF4-FFF2-40B4-BE49-F238E27FC236}">
                <a16:creationId xmlns:a16="http://schemas.microsoft.com/office/drawing/2014/main" id="{559F9896-CAE0-1C07-4482-68135962AF07}"/>
              </a:ext>
            </a:extLst>
          </p:cNvPr>
          <p:cNvSpPr/>
          <p:nvPr/>
        </p:nvSpPr>
        <p:spPr>
          <a:xfrm>
            <a:off x="2260600" y="2692400"/>
            <a:ext cx="177800" cy="254000"/>
          </a:xfrm>
          <a:prstGeom prst="downArrow">
            <a:avLst/>
          </a:prstGeom>
          <a:solidFill>
            <a:srgbClr val="C1272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endParaRPr lang="en-IN" sz="800">
              <a:solidFill>
                <a:srgbClr val="FFFFFF"/>
              </a:solidFill>
              <a:latin typeface="Calibri" panose="020F0502020204030204" pitchFamily="34" charset="0"/>
            </a:endParaRPr>
          </a:p>
        </p:txBody>
      </p:sp>
      <p:sp>
        <p:nvSpPr>
          <p:cNvPr id="20" name="Rectangle: Rounded Corners 19">
            <a:extLst>
              <a:ext uri="{FF2B5EF4-FFF2-40B4-BE49-F238E27FC236}">
                <a16:creationId xmlns:a16="http://schemas.microsoft.com/office/drawing/2014/main" id="{C93902A5-FA43-8D35-B364-8847B1452B26}"/>
              </a:ext>
            </a:extLst>
          </p:cNvPr>
          <p:cNvSpPr/>
          <p:nvPr/>
        </p:nvSpPr>
        <p:spPr>
          <a:xfrm>
            <a:off x="762000" y="2971800"/>
            <a:ext cx="3810000" cy="431800"/>
          </a:xfrm>
          <a:prstGeom prst="roundRect">
            <a:avLst/>
          </a:prstGeom>
          <a:solidFill>
            <a:srgbClr val="C1272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US" sz="1000" b="1">
                <a:solidFill>
                  <a:srgbClr val="FFFFFF"/>
                </a:solidFill>
                <a:latin typeface="Calibri" panose="020F0502020204030204" pitchFamily="34" charset="0"/>
              </a:rPr>
              <a:t>REJECT → recapture instruction to the operator</a:t>
            </a:r>
            <a:endParaRPr lang="en-IN" sz="1000" b="1">
              <a:solidFill>
                <a:srgbClr val="FFFFFF"/>
              </a:solidFill>
              <a:latin typeface="Calibri" panose="020F0502020204030204" pitchFamily="34" charset="0"/>
            </a:endParaRPr>
          </a:p>
        </p:txBody>
      </p:sp>
      <p:sp>
        <p:nvSpPr>
          <p:cNvPr id="21" name="Arrow: Down 20">
            <a:extLst>
              <a:ext uri="{FF2B5EF4-FFF2-40B4-BE49-F238E27FC236}">
                <a16:creationId xmlns:a16="http://schemas.microsoft.com/office/drawing/2014/main" id="{183C8078-02CB-1799-6AE4-A2E42F3BC14B}"/>
              </a:ext>
            </a:extLst>
          </p:cNvPr>
          <p:cNvSpPr/>
          <p:nvPr/>
        </p:nvSpPr>
        <p:spPr>
          <a:xfrm>
            <a:off x="8382000" y="2692400"/>
            <a:ext cx="177800" cy="254000"/>
          </a:xfrm>
          <a:prstGeom prst="downArrow">
            <a:avLst/>
          </a:prstGeom>
          <a:solidFill>
            <a:srgbClr val="F0A20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endParaRPr lang="en-IN" sz="800">
              <a:solidFill>
                <a:srgbClr val="FFFFFF"/>
              </a:solidFill>
              <a:latin typeface="Calibri" panose="020F0502020204030204" pitchFamily="34" charset="0"/>
            </a:endParaRPr>
          </a:p>
        </p:txBody>
      </p:sp>
      <p:sp>
        <p:nvSpPr>
          <p:cNvPr id="22" name="Rectangle: Rounded Corners 21">
            <a:extLst>
              <a:ext uri="{FF2B5EF4-FFF2-40B4-BE49-F238E27FC236}">
                <a16:creationId xmlns:a16="http://schemas.microsoft.com/office/drawing/2014/main" id="{3CBD0A69-E8BF-BF1E-BDE5-82AC5865960B}"/>
              </a:ext>
            </a:extLst>
          </p:cNvPr>
          <p:cNvSpPr/>
          <p:nvPr/>
        </p:nvSpPr>
        <p:spPr>
          <a:xfrm>
            <a:off x="6858000" y="2971800"/>
            <a:ext cx="3810000" cy="431800"/>
          </a:xfrm>
          <a:prstGeom prst="roundRect">
            <a:avLst/>
          </a:prstGeom>
          <a:solidFill>
            <a:srgbClr val="F0A20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US" sz="1000" b="1">
                <a:solidFill>
                  <a:srgbClr val="FFFFFF"/>
                </a:solidFill>
                <a:latin typeface="Calibri" panose="020F0502020204030204" pitchFamily="34" charset="0"/>
              </a:rPr>
              <a:t>CNN ≠ lesion rules → escalate to a human</a:t>
            </a:r>
            <a:endParaRPr lang="en-IN" sz="1000" b="1">
              <a:solidFill>
                <a:srgbClr val="FFFFFF"/>
              </a:solidFill>
              <a:latin typeface="Calibri" panose="020F0502020204030204" pitchFamily="34" charset="0"/>
            </a:endParaRPr>
          </a:p>
        </p:txBody>
      </p:sp>
      <p:sp>
        <p:nvSpPr>
          <p:cNvPr id="23" name="Rectangle 22">
            <a:extLst>
              <a:ext uri="{FF2B5EF4-FFF2-40B4-BE49-F238E27FC236}">
                <a16:creationId xmlns:a16="http://schemas.microsoft.com/office/drawing/2014/main" id="{93AB3D0E-4B5F-7539-61E7-7C3018CD0614}"/>
              </a:ext>
            </a:extLst>
          </p:cNvPr>
          <p:cNvSpPr/>
          <p:nvPr/>
        </p:nvSpPr>
        <p:spPr>
          <a:xfrm>
            <a:off x="381000" y="3556000"/>
            <a:ext cx="3657600" cy="1752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1000">
              <a:solidFill>
                <a:srgbClr val="0B2545"/>
              </a:solidFill>
              <a:latin typeface="Calibri" panose="020F0502020204030204" pitchFamily="34" charset="0"/>
            </a:endParaRPr>
          </a:p>
        </p:txBody>
      </p:sp>
      <p:sp>
        <p:nvSpPr>
          <p:cNvPr id="24" name="Rectangle 23">
            <a:extLst>
              <a:ext uri="{FF2B5EF4-FFF2-40B4-BE49-F238E27FC236}">
                <a16:creationId xmlns:a16="http://schemas.microsoft.com/office/drawing/2014/main" id="{5ABD07D7-3E1F-7E5A-41AE-E614E962D59F}"/>
              </a:ext>
            </a:extLst>
          </p:cNvPr>
          <p:cNvSpPr/>
          <p:nvPr/>
        </p:nvSpPr>
        <p:spPr>
          <a:xfrm>
            <a:off x="381000" y="3556000"/>
            <a:ext cx="3657600" cy="50800"/>
          </a:xfrm>
          <a:prstGeom prst="rect">
            <a:avLst/>
          </a:prstGeom>
          <a:solidFill>
            <a:srgbClr val="C1272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800">
              <a:solidFill>
                <a:srgbClr val="FFFFFF"/>
              </a:solidFill>
              <a:latin typeface="Calibri" panose="020F0502020204030204" pitchFamily="34" charset="0"/>
            </a:endParaRPr>
          </a:p>
        </p:txBody>
      </p:sp>
      <p:sp>
        <p:nvSpPr>
          <p:cNvPr id="25" name="TextBox 24">
            <a:extLst>
              <a:ext uri="{FF2B5EF4-FFF2-40B4-BE49-F238E27FC236}">
                <a16:creationId xmlns:a16="http://schemas.microsoft.com/office/drawing/2014/main" id="{BD2D1B3F-94B8-6B56-6AC3-E969CF3657E4}"/>
              </a:ext>
            </a:extLst>
          </p:cNvPr>
          <p:cNvSpPr txBox="1"/>
          <p:nvPr/>
        </p:nvSpPr>
        <p:spPr>
          <a:xfrm>
            <a:off x="495300" y="3683000"/>
            <a:ext cx="3429000" cy="200055"/>
          </a:xfrm>
          <a:prstGeom prst="rect">
            <a:avLst/>
          </a:prstGeom>
          <a:noFill/>
        </p:spPr>
        <p:txBody>
          <a:bodyPr vert="horz" wrap="square" lIns="0" tIns="0" rIns="0" bIns="0" rtlCol="0" anchor="t">
            <a:spAutoFit/>
          </a:bodyPr>
          <a:lstStyle/>
          <a:p>
            <a:r>
              <a:rPr lang="en-IN" sz="1300" b="1">
                <a:solidFill>
                  <a:srgbClr val="0B2545"/>
                </a:solidFill>
              </a:rPr>
              <a:t>It refuses to guess</a:t>
            </a:r>
          </a:p>
        </p:txBody>
      </p:sp>
      <p:sp>
        <p:nvSpPr>
          <p:cNvPr id="26" name="TextBox 25">
            <a:extLst>
              <a:ext uri="{FF2B5EF4-FFF2-40B4-BE49-F238E27FC236}">
                <a16:creationId xmlns:a16="http://schemas.microsoft.com/office/drawing/2014/main" id="{1DF0C551-86DF-71A7-511D-DA09449A94A5}"/>
              </a:ext>
            </a:extLst>
          </p:cNvPr>
          <p:cNvSpPr txBox="1"/>
          <p:nvPr/>
        </p:nvSpPr>
        <p:spPr>
          <a:xfrm>
            <a:off x="495300" y="3962400"/>
            <a:ext cx="3429000" cy="438582"/>
          </a:xfrm>
          <a:prstGeom prst="rect">
            <a:avLst/>
          </a:prstGeom>
          <a:noFill/>
        </p:spPr>
        <p:txBody>
          <a:bodyPr vert="horz" wrap="square" lIns="0" tIns="0" rIns="0" bIns="0" rtlCol="0" anchor="t">
            <a:spAutoFit/>
          </a:bodyPr>
          <a:lstStyle/>
          <a:p>
            <a:r>
              <a:rPr lang="en-US" sz="950">
                <a:solidFill>
                  <a:srgbClr val="0B2545"/>
                </a:solidFill>
              </a:rPr>
              <a:t>Refuses ungradeable captures with a specific recapture instruction, at a threshold fitted to reject the worst 4.8% of 400 real captures — not a guessed cut-off.</a:t>
            </a:r>
            <a:endParaRPr lang="en-IN" sz="950">
              <a:solidFill>
                <a:srgbClr val="0B2545"/>
              </a:solidFill>
            </a:endParaRPr>
          </a:p>
        </p:txBody>
      </p:sp>
      <p:sp>
        <p:nvSpPr>
          <p:cNvPr id="27" name="Rectangle 26">
            <a:extLst>
              <a:ext uri="{FF2B5EF4-FFF2-40B4-BE49-F238E27FC236}">
                <a16:creationId xmlns:a16="http://schemas.microsoft.com/office/drawing/2014/main" id="{6AD10F89-F0C4-22B8-D608-FCA95305137F}"/>
              </a:ext>
            </a:extLst>
          </p:cNvPr>
          <p:cNvSpPr/>
          <p:nvPr/>
        </p:nvSpPr>
        <p:spPr>
          <a:xfrm>
            <a:off x="4267200" y="3556000"/>
            <a:ext cx="3657600" cy="1752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1000">
              <a:solidFill>
                <a:srgbClr val="0B2545"/>
              </a:solidFill>
              <a:latin typeface="Calibri" panose="020F0502020204030204" pitchFamily="34" charset="0"/>
            </a:endParaRPr>
          </a:p>
        </p:txBody>
      </p:sp>
      <p:sp>
        <p:nvSpPr>
          <p:cNvPr id="28" name="Rectangle 27">
            <a:extLst>
              <a:ext uri="{FF2B5EF4-FFF2-40B4-BE49-F238E27FC236}">
                <a16:creationId xmlns:a16="http://schemas.microsoft.com/office/drawing/2014/main" id="{1F9B45B6-8F79-A7F0-EF38-37BE4547EEA3}"/>
              </a:ext>
            </a:extLst>
          </p:cNvPr>
          <p:cNvSpPr/>
          <p:nvPr/>
        </p:nvSpPr>
        <p:spPr>
          <a:xfrm>
            <a:off x="4267200" y="3556000"/>
            <a:ext cx="3657600" cy="50800"/>
          </a:xfrm>
          <a:prstGeom prst="rect">
            <a:avLst/>
          </a:prstGeom>
          <a:solidFill>
            <a:srgbClr val="F0A20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800">
              <a:solidFill>
                <a:srgbClr val="FFFFFF"/>
              </a:solidFill>
              <a:latin typeface="Calibri" panose="020F0502020204030204" pitchFamily="34" charset="0"/>
            </a:endParaRPr>
          </a:p>
        </p:txBody>
      </p:sp>
      <p:sp>
        <p:nvSpPr>
          <p:cNvPr id="29" name="TextBox 28">
            <a:extLst>
              <a:ext uri="{FF2B5EF4-FFF2-40B4-BE49-F238E27FC236}">
                <a16:creationId xmlns:a16="http://schemas.microsoft.com/office/drawing/2014/main" id="{581ED03E-CF50-C118-EB3A-6E5AB1274619}"/>
              </a:ext>
            </a:extLst>
          </p:cNvPr>
          <p:cNvSpPr txBox="1"/>
          <p:nvPr/>
        </p:nvSpPr>
        <p:spPr>
          <a:xfrm>
            <a:off x="4381500" y="3683000"/>
            <a:ext cx="3429000" cy="200055"/>
          </a:xfrm>
          <a:prstGeom prst="rect">
            <a:avLst/>
          </a:prstGeom>
          <a:noFill/>
        </p:spPr>
        <p:txBody>
          <a:bodyPr vert="horz" wrap="square" lIns="0" tIns="0" rIns="0" bIns="0" rtlCol="0" anchor="t">
            <a:spAutoFit/>
          </a:bodyPr>
          <a:lstStyle/>
          <a:p>
            <a:r>
              <a:rPr lang="en-IN" sz="1300" b="1">
                <a:solidFill>
                  <a:srgbClr val="0B2545"/>
                </a:solidFill>
              </a:rPr>
              <a:t>Dual-evidence safety check</a:t>
            </a:r>
          </a:p>
        </p:txBody>
      </p:sp>
      <p:sp>
        <p:nvSpPr>
          <p:cNvPr id="30" name="TextBox 29">
            <a:extLst>
              <a:ext uri="{FF2B5EF4-FFF2-40B4-BE49-F238E27FC236}">
                <a16:creationId xmlns:a16="http://schemas.microsoft.com/office/drawing/2014/main" id="{8F24F87F-E7E6-6F30-14C6-AEEB604CEF65}"/>
              </a:ext>
            </a:extLst>
          </p:cNvPr>
          <p:cNvSpPr txBox="1"/>
          <p:nvPr/>
        </p:nvSpPr>
        <p:spPr>
          <a:xfrm>
            <a:off x="4381500" y="3962400"/>
            <a:ext cx="3429000" cy="584775"/>
          </a:xfrm>
          <a:prstGeom prst="rect">
            <a:avLst/>
          </a:prstGeom>
          <a:noFill/>
        </p:spPr>
        <p:txBody>
          <a:bodyPr vert="horz" wrap="square" lIns="0" tIns="0" rIns="0" bIns="0" rtlCol="0" anchor="t">
            <a:spAutoFit/>
          </a:bodyPr>
          <a:lstStyle/>
          <a:p>
            <a:r>
              <a:rPr lang="en-US" sz="950">
                <a:solidFill>
                  <a:srgbClr val="0B2545"/>
                </a:solidFill>
              </a:rPr>
              <a:t>The CNN grade must agree with a rule-based ICDR grade read off counted lesions. It escalated 84% of the CNN's referable errors, and of 28 referable cases the CNN alone missed, 0 were auto-reported as normal.</a:t>
            </a:r>
            <a:endParaRPr lang="en-IN" sz="950">
              <a:solidFill>
                <a:srgbClr val="0B2545"/>
              </a:solidFill>
            </a:endParaRPr>
          </a:p>
        </p:txBody>
      </p:sp>
      <p:sp>
        <p:nvSpPr>
          <p:cNvPr id="31" name="Rectangle 30">
            <a:extLst>
              <a:ext uri="{FF2B5EF4-FFF2-40B4-BE49-F238E27FC236}">
                <a16:creationId xmlns:a16="http://schemas.microsoft.com/office/drawing/2014/main" id="{3C047EB4-41E6-3A44-9D25-4EC3B19017DF}"/>
              </a:ext>
            </a:extLst>
          </p:cNvPr>
          <p:cNvSpPr/>
          <p:nvPr/>
        </p:nvSpPr>
        <p:spPr>
          <a:xfrm>
            <a:off x="8153400" y="3556000"/>
            <a:ext cx="3657600" cy="1752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1000">
              <a:solidFill>
                <a:srgbClr val="0B2545"/>
              </a:solidFill>
              <a:latin typeface="Calibri" panose="020F0502020204030204" pitchFamily="34" charset="0"/>
            </a:endParaRPr>
          </a:p>
        </p:txBody>
      </p:sp>
      <p:sp>
        <p:nvSpPr>
          <p:cNvPr id="32" name="Rectangle 31">
            <a:extLst>
              <a:ext uri="{FF2B5EF4-FFF2-40B4-BE49-F238E27FC236}">
                <a16:creationId xmlns:a16="http://schemas.microsoft.com/office/drawing/2014/main" id="{27D060E5-F7DF-D99D-3458-EC450BC03D1A}"/>
              </a:ext>
            </a:extLst>
          </p:cNvPr>
          <p:cNvSpPr/>
          <p:nvPr/>
        </p:nvSpPr>
        <p:spPr>
          <a:xfrm>
            <a:off x="8153400" y="3556000"/>
            <a:ext cx="3657600" cy="50800"/>
          </a:xfrm>
          <a:prstGeom prst="rect">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800">
              <a:solidFill>
                <a:srgbClr val="FFFFFF"/>
              </a:solidFill>
              <a:latin typeface="Calibri" panose="020F0502020204030204" pitchFamily="34" charset="0"/>
            </a:endParaRPr>
          </a:p>
        </p:txBody>
      </p:sp>
      <p:sp>
        <p:nvSpPr>
          <p:cNvPr id="33" name="TextBox 32">
            <a:extLst>
              <a:ext uri="{FF2B5EF4-FFF2-40B4-BE49-F238E27FC236}">
                <a16:creationId xmlns:a16="http://schemas.microsoft.com/office/drawing/2014/main" id="{6185B798-D228-BB8B-9106-916A7452F0DB}"/>
              </a:ext>
            </a:extLst>
          </p:cNvPr>
          <p:cNvSpPr txBox="1"/>
          <p:nvPr/>
        </p:nvSpPr>
        <p:spPr>
          <a:xfrm>
            <a:off x="8267700" y="3683000"/>
            <a:ext cx="3429000" cy="200055"/>
          </a:xfrm>
          <a:prstGeom prst="rect">
            <a:avLst/>
          </a:prstGeom>
          <a:noFill/>
        </p:spPr>
        <p:txBody>
          <a:bodyPr vert="horz" wrap="square" lIns="0" tIns="0" rIns="0" bIns="0" rtlCol="0" anchor="t">
            <a:spAutoFit/>
          </a:bodyPr>
          <a:lstStyle/>
          <a:p>
            <a:r>
              <a:rPr lang="en-IN" sz="1300" b="1">
                <a:solidFill>
                  <a:srgbClr val="0B2545"/>
                </a:solidFill>
              </a:rPr>
              <a:t>Edge-first, Simulink-proven</a:t>
            </a:r>
          </a:p>
        </p:txBody>
      </p:sp>
      <p:sp>
        <p:nvSpPr>
          <p:cNvPr id="34" name="TextBox 33">
            <a:extLst>
              <a:ext uri="{FF2B5EF4-FFF2-40B4-BE49-F238E27FC236}">
                <a16:creationId xmlns:a16="http://schemas.microsoft.com/office/drawing/2014/main" id="{7720E41C-80FB-F601-5B17-44CA87256F70}"/>
              </a:ext>
            </a:extLst>
          </p:cNvPr>
          <p:cNvSpPr txBox="1"/>
          <p:nvPr/>
        </p:nvSpPr>
        <p:spPr>
          <a:xfrm>
            <a:off x="8267700" y="3962400"/>
            <a:ext cx="3429000" cy="438582"/>
          </a:xfrm>
          <a:prstGeom prst="rect">
            <a:avLst/>
          </a:prstGeom>
          <a:noFill/>
        </p:spPr>
        <p:txBody>
          <a:bodyPr vert="horz" wrap="square" lIns="0" tIns="0" rIns="0" bIns="0" rtlCol="0" anchor="t">
            <a:spAutoFit/>
          </a:bodyPr>
          <a:lstStyle/>
          <a:p>
            <a:r>
              <a:rPr lang="en-US" sz="950">
                <a:solidFill>
                  <a:srgbClr val="0B2545"/>
                </a:solidFill>
              </a:rPr>
              <a:t>At 100,000 patients/year manual review is an unstable queue — 167 expert-days of backlog accrue in one year. Triage flags 40%, against a 72% stability limit.</a:t>
            </a:r>
            <a:endParaRPr lang="en-IN" sz="950">
              <a:solidFill>
                <a:srgbClr val="0B2545"/>
              </a:solidFill>
            </a:endParaRPr>
          </a:p>
        </p:txBody>
      </p:sp>
      <p:sp>
        <p:nvSpPr>
          <p:cNvPr id="35" name="TextBox 34">
            <a:extLst>
              <a:ext uri="{FF2B5EF4-FFF2-40B4-BE49-F238E27FC236}">
                <a16:creationId xmlns:a16="http://schemas.microsoft.com/office/drawing/2014/main" id="{BDA8419A-78D6-5929-141E-6B950C933934}"/>
              </a:ext>
            </a:extLst>
          </p:cNvPr>
          <p:cNvSpPr txBox="1"/>
          <p:nvPr/>
        </p:nvSpPr>
        <p:spPr>
          <a:xfrm>
            <a:off x="381000" y="5511800"/>
            <a:ext cx="11430000" cy="200055"/>
          </a:xfrm>
          <a:prstGeom prst="rect">
            <a:avLst/>
          </a:prstGeom>
          <a:noFill/>
        </p:spPr>
        <p:txBody>
          <a:bodyPr vert="horz" wrap="square" lIns="0" tIns="0" rIns="0" bIns="0" rtlCol="0" anchor="t">
            <a:spAutoFit/>
          </a:bodyPr>
          <a:lstStyle/>
          <a:p>
            <a:pPr algn="ctr"/>
            <a:r>
              <a:rPr lang="en-US" sz="1300" b="1" i="1">
                <a:solidFill>
                  <a:srgbClr val="0B2545"/>
                </a:solidFill>
              </a:rPr>
              <a:t>Not a black box — an evidence-based triage system that shows its work and knows when to abstain.</a:t>
            </a:r>
            <a:endParaRPr lang="en-IN" sz="1300" b="1" i="1">
              <a:solidFill>
                <a:srgbClr val="0B254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381000" y="1168400"/>
            <a:ext cx="9271000" cy="223138"/>
          </a:xfrm>
          <a:prstGeom prst="rect">
            <a:avLst/>
          </a:prstGeom>
          <a:noFill/>
          <a:ln w="9525">
            <a:noFill/>
            <a:miter lim="800000"/>
            <a:headEnd/>
            <a:tailEnd/>
          </a:ln>
        </p:spPr>
        <p:txBody>
          <a:bodyPr wrap="square">
            <a:spAutoFit/>
          </a:bodyPr>
          <a:lstStyle/>
          <a:p>
            <a:pPr marL="342900" indent="-342900" algn="just">
              <a:buFont typeface="Arial" panose="020B0604020202020204" pitchFamily="34" charset="0"/>
              <a:buChar char="•"/>
            </a:pPr>
            <a:r>
              <a:rPr lang="en-US" sz="850" i="1">
                <a:solidFill>
                  <a:srgbClr val="78828C"/>
                </a:solidFill>
                <a:cs typeface="Arial" pitchFamily="34" charset="0"/>
              </a:rPr>
              <a:t>Technologies to be used (e.g. programming languages, frameworks, hardware)  ·  Methodology and process for implementation (Flow Charts/Images/ working prototype)</a:t>
            </a:r>
            <a:endParaRPr lang="en-US" sz="850" i="1" dirty="0">
              <a:solidFill>
                <a:srgbClr val="78828C"/>
              </a:solidFill>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1">
            <a:extLst>
              <a:ext uri="{FF2B5EF4-FFF2-40B4-BE49-F238E27FC236}">
                <a16:creationId xmlns:a16="http://schemas.microsoft.com/office/drawing/2014/main" id="{E64986DF-AC2B-E5EA-2833-321E4A1F04B9}"/>
              </a:ext>
            </a:extLst>
          </p:cNvPr>
          <p:cNvSpPr/>
          <p:nvPr/>
        </p:nvSpPr>
        <p:spPr>
          <a:xfrm>
            <a:off x="381000" y="1600200"/>
            <a:ext cx="7112000" cy="584200"/>
          </a:xfrm>
          <a:prstGeom prst="rect">
            <a:avLst/>
          </a:prstGeom>
          <a:solidFill>
            <a:srgbClr val="FFFFFF"/>
          </a:solidFill>
          <a:ln w="12700">
            <a:solidFill>
              <a:srgbClr val="0B254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3" name="Rectangle 2">
            <a:extLst>
              <a:ext uri="{FF2B5EF4-FFF2-40B4-BE49-F238E27FC236}">
                <a16:creationId xmlns:a16="http://schemas.microsoft.com/office/drawing/2014/main" id="{F38D4251-37C3-2E85-4AEB-8B52DFD8396D}"/>
              </a:ext>
            </a:extLst>
          </p:cNvPr>
          <p:cNvSpPr/>
          <p:nvPr/>
        </p:nvSpPr>
        <p:spPr>
          <a:xfrm>
            <a:off x="381000" y="1600200"/>
            <a:ext cx="7112000" cy="203200"/>
          </a:xfrm>
          <a:prstGeom prst="rect">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FFFFFF"/>
              </a:solidFill>
              <a:latin typeface="Calibri" panose="020F0502020204030204" pitchFamily="34" charset="0"/>
            </a:endParaRPr>
          </a:p>
        </p:txBody>
      </p:sp>
      <p:sp>
        <p:nvSpPr>
          <p:cNvPr id="4" name="TextBox 3">
            <a:extLst>
              <a:ext uri="{FF2B5EF4-FFF2-40B4-BE49-F238E27FC236}">
                <a16:creationId xmlns:a16="http://schemas.microsoft.com/office/drawing/2014/main" id="{185D6895-2448-9F36-3084-44A8FA4B059B}"/>
              </a:ext>
            </a:extLst>
          </p:cNvPr>
          <p:cNvSpPr txBox="1"/>
          <p:nvPr/>
        </p:nvSpPr>
        <p:spPr>
          <a:xfrm>
            <a:off x="457200" y="1678302"/>
            <a:ext cx="4826000" cy="146194"/>
          </a:xfrm>
          <a:prstGeom prst="rect">
            <a:avLst/>
          </a:prstGeom>
          <a:noFill/>
        </p:spPr>
        <p:txBody>
          <a:bodyPr vert="horz" wrap="square" lIns="0" tIns="0" rIns="0" bIns="0" rtlCol="0" anchor="ctr">
            <a:spAutoFit/>
          </a:bodyPr>
          <a:lstStyle/>
          <a:p>
            <a:r>
              <a:rPr lang="en-IN" sz="950" b="1">
                <a:solidFill>
                  <a:srgbClr val="FFFFFF"/>
                </a:solidFill>
              </a:rPr>
              <a:t>M1  QUALITY ASSESSMENT</a:t>
            </a:r>
          </a:p>
        </p:txBody>
      </p:sp>
      <p:sp>
        <p:nvSpPr>
          <p:cNvPr id="5" name="TextBox 4">
            <a:extLst>
              <a:ext uri="{FF2B5EF4-FFF2-40B4-BE49-F238E27FC236}">
                <a16:creationId xmlns:a16="http://schemas.microsoft.com/office/drawing/2014/main" id="{4A96F3E7-1E32-597A-2AB5-ECDA221D631E}"/>
              </a:ext>
            </a:extLst>
          </p:cNvPr>
          <p:cNvSpPr txBox="1"/>
          <p:nvPr/>
        </p:nvSpPr>
        <p:spPr>
          <a:xfrm>
            <a:off x="5283200" y="1685997"/>
            <a:ext cx="2133600" cy="130805"/>
          </a:xfrm>
          <a:prstGeom prst="rect">
            <a:avLst/>
          </a:prstGeom>
          <a:noFill/>
        </p:spPr>
        <p:txBody>
          <a:bodyPr vert="horz" wrap="square" lIns="0" tIns="0" rIns="0" bIns="0" rtlCol="0" anchor="ctr">
            <a:spAutoFit/>
          </a:bodyPr>
          <a:lstStyle/>
          <a:p>
            <a:pPr algn="r"/>
            <a:r>
              <a:rPr lang="en-IN" sz="850">
                <a:solidFill>
                  <a:srgbClr val="FFFFFF"/>
                </a:solidFill>
              </a:rPr>
              <a:t>Image Processing</a:t>
            </a:r>
          </a:p>
        </p:txBody>
      </p:sp>
      <p:sp>
        <p:nvSpPr>
          <p:cNvPr id="8" name="TextBox 7">
            <a:extLst>
              <a:ext uri="{FF2B5EF4-FFF2-40B4-BE49-F238E27FC236}">
                <a16:creationId xmlns:a16="http://schemas.microsoft.com/office/drawing/2014/main" id="{F4064AF8-5D3D-44EE-8259-DF201C11B42C}"/>
              </a:ext>
            </a:extLst>
          </p:cNvPr>
          <p:cNvSpPr txBox="1"/>
          <p:nvPr/>
        </p:nvSpPr>
        <p:spPr>
          <a:xfrm>
            <a:off x="457200" y="1828800"/>
            <a:ext cx="6959600" cy="130805"/>
          </a:xfrm>
          <a:prstGeom prst="rect">
            <a:avLst/>
          </a:prstGeom>
          <a:noFill/>
        </p:spPr>
        <p:txBody>
          <a:bodyPr vert="horz" wrap="square" lIns="0" tIns="0" rIns="0" bIns="0" rtlCol="0" anchor="t">
            <a:spAutoFit/>
          </a:bodyPr>
          <a:lstStyle/>
          <a:p>
            <a:r>
              <a:rPr lang="en-IN" sz="850">
                <a:solidFill>
                  <a:srgbClr val="0B2545"/>
                </a:solidFill>
              </a:rPr>
              <a:t>imgradient · fspecial('laplacian') · adapthisteq · regionprops → score 0–100, thresholds fitted on 400 real captures</a:t>
            </a:r>
          </a:p>
        </p:txBody>
      </p:sp>
      <p:sp>
        <p:nvSpPr>
          <p:cNvPr id="9" name="Rectangle 8">
            <a:extLst>
              <a:ext uri="{FF2B5EF4-FFF2-40B4-BE49-F238E27FC236}">
                <a16:creationId xmlns:a16="http://schemas.microsoft.com/office/drawing/2014/main" id="{D6D4F258-4EB2-D65F-A650-E981B17E1B21}"/>
              </a:ext>
            </a:extLst>
          </p:cNvPr>
          <p:cNvSpPr/>
          <p:nvPr/>
        </p:nvSpPr>
        <p:spPr>
          <a:xfrm>
            <a:off x="381000" y="2260600"/>
            <a:ext cx="7112000" cy="584200"/>
          </a:xfrm>
          <a:prstGeom prst="rect">
            <a:avLst/>
          </a:prstGeom>
          <a:solidFill>
            <a:srgbClr val="FFFFFF"/>
          </a:solidFill>
          <a:ln w="12700">
            <a:solidFill>
              <a:srgbClr val="0B254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13" name="Rectangle 12">
            <a:extLst>
              <a:ext uri="{FF2B5EF4-FFF2-40B4-BE49-F238E27FC236}">
                <a16:creationId xmlns:a16="http://schemas.microsoft.com/office/drawing/2014/main" id="{EC591101-56C0-925C-F940-D42066AE5F12}"/>
              </a:ext>
            </a:extLst>
          </p:cNvPr>
          <p:cNvSpPr/>
          <p:nvPr/>
        </p:nvSpPr>
        <p:spPr>
          <a:xfrm>
            <a:off x="381000" y="2260600"/>
            <a:ext cx="7112000" cy="203200"/>
          </a:xfrm>
          <a:prstGeom prst="rect">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FFFFFF"/>
              </a:solidFill>
              <a:latin typeface="Calibri" panose="020F0502020204030204" pitchFamily="34" charset="0"/>
            </a:endParaRPr>
          </a:p>
        </p:txBody>
      </p:sp>
      <p:sp>
        <p:nvSpPr>
          <p:cNvPr id="14" name="TextBox 13">
            <a:extLst>
              <a:ext uri="{FF2B5EF4-FFF2-40B4-BE49-F238E27FC236}">
                <a16:creationId xmlns:a16="http://schemas.microsoft.com/office/drawing/2014/main" id="{1109854F-E813-87AC-BBC3-777D16A94662}"/>
              </a:ext>
            </a:extLst>
          </p:cNvPr>
          <p:cNvSpPr txBox="1"/>
          <p:nvPr/>
        </p:nvSpPr>
        <p:spPr>
          <a:xfrm>
            <a:off x="457200" y="2338702"/>
            <a:ext cx="4826000" cy="146194"/>
          </a:xfrm>
          <a:prstGeom prst="rect">
            <a:avLst/>
          </a:prstGeom>
          <a:noFill/>
        </p:spPr>
        <p:txBody>
          <a:bodyPr vert="horz" wrap="square" lIns="0" tIns="0" rIns="0" bIns="0" rtlCol="0" anchor="ctr">
            <a:spAutoFit/>
          </a:bodyPr>
          <a:lstStyle/>
          <a:p>
            <a:r>
              <a:rPr lang="en-IN" sz="950" b="1">
                <a:solidFill>
                  <a:srgbClr val="FFFFFF"/>
                </a:solidFill>
              </a:rPr>
              <a:t>M2  ADAPTIVE ENHANCEMENT</a:t>
            </a:r>
          </a:p>
        </p:txBody>
      </p:sp>
      <p:sp>
        <p:nvSpPr>
          <p:cNvPr id="15" name="TextBox 14">
            <a:extLst>
              <a:ext uri="{FF2B5EF4-FFF2-40B4-BE49-F238E27FC236}">
                <a16:creationId xmlns:a16="http://schemas.microsoft.com/office/drawing/2014/main" id="{559FE0E9-22D8-81BC-DF86-6680E5098806}"/>
              </a:ext>
            </a:extLst>
          </p:cNvPr>
          <p:cNvSpPr txBox="1"/>
          <p:nvPr/>
        </p:nvSpPr>
        <p:spPr>
          <a:xfrm>
            <a:off x="5283200" y="2346397"/>
            <a:ext cx="2133600" cy="130805"/>
          </a:xfrm>
          <a:prstGeom prst="rect">
            <a:avLst/>
          </a:prstGeom>
          <a:noFill/>
        </p:spPr>
        <p:txBody>
          <a:bodyPr vert="horz" wrap="square" lIns="0" tIns="0" rIns="0" bIns="0" rtlCol="0" anchor="ctr">
            <a:spAutoFit/>
          </a:bodyPr>
          <a:lstStyle/>
          <a:p>
            <a:pPr algn="r"/>
            <a:r>
              <a:rPr lang="en-IN" sz="850">
                <a:solidFill>
                  <a:srgbClr val="FFFFFF"/>
                </a:solidFill>
              </a:rPr>
              <a:t>Image Processing</a:t>
            </a:r>
          </a:p>
        </p:txBody>
      </p:sp>
      <p:sp>
        <p:nvSpPr>
          <p:cNvPr id="16" name="TextBox 15">
            <a:extLst>
              <a:ext uri="{FF2B5EF4-FFF2-40B4-BE49-F238E27FC236}">
                <a16:creationId xmlns:a16="http://schemas.microsoft.com/office/drawing/2014/main" id="{9622A6E1-1F5E-E857-94FF-B18B0B8B48E9}"/>
              </a:ext>
            </a:extLst>
          </p:cNvPr>
          <p:cNvSpPr txBox="1"/>
          <p:nvPr/>
        </p:nvSpPr>
        <p:spPr>
          <a:xfrm>
            <a:off x="457200" y="2489200"/>
            <a:ext cx="6959600" cy="130805"/>
          </a:xfrm>
          <a:prstGeom prst="rect">
            <a:avLst/>
          </a:prstGeom>
          <a:noFill/>
        </p:spPr>
        <p:txBody>
          <a:bodyPr vert="horz" wrap="square" lIns="0" tIns="0" rIns="0" bIns="0" rtlCol="0" anchor="t">
            <a:spAutoFit/>
          </a:bodyPr>
          <a:lstStyle/>
          <a:p>
            <a:r>
              <a:rPr lang="en-IN" sz="850">
                <a:solidFill>
                  <a:srgbClr val="0B2545"/>
                </a:solidFill>
              </a:rPr>
              <a:t>imgaussfilt illumination field · adapthisteq (CLAHE) · imnlmfilt denoise</a:t>
            </a:r>
          </a:p>
        </p:txBody>
      </p:sp>
      <p:sp>
        <p:nvSpPr>
          <p:cNvPr id="17" name="Rectangle 16">
            <a:extLst>
              <a:ext uri="{FF2B5EF4-FFF2-40B4-BE49-F238E27FC236}">
                <a16:creationId xmlns:a16="http://schemas.microsoft.com/office/drawing/2014/main" id="{B2002576-AEA2-6814-8D80-884CFAC165B9}"/>
              </a:ext>
            </a:extLst>
          </p:cNvPr>
          <p:cNvSpPr/>
          <p:nvPr/>
        </p:nvSpPr>
        <p:spPr>
          <a:xfrm>
            <a:off x="381000" y="2921000"/>
            <a:ext cx="7112000" cy="584200"/>
          </a:xfrm>
          <a:prstGeom prst="rect">
            <a:avLst/>
          </a:prstGeom>
          <a:solidFill>
            <a:srgbClr val="FFFFFF"/>
          </a:solidFill>
          <a:ln w="12700">
            <a:solidFill>
              <a:srgbClr val="0B254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18" name="Rectangle 17">
            <a:extLst>
              <a:ext uri="{FF2B5EF4-FFF2-40B4-BE49-F238E27FC236}">
                <a16:creationId xmlns:a16="http://schemas.microsoft.com/office/drawing/2014/main" id="{05BA0991-E056-9612-48DD-0DEB7D8215A7}"/>
              </a:ext>
            </a:extLst>
          </p:cNvPr>
          <p:cNvSpPr/>
          <p:nvPr/>
        </p:nvSpPr>
        <p:spPr>
          <a:xfrm>
            <a:off x="381000" y="2921000"/>
            <a:ext cx="7112000" cy="203200"/>
          </a:xfrm>
          <a:prstGeom prst="rect">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FFFFFF"/>
              </a:solidFill>
              <a:latin typeface="Calibri" panose="020F0502020204030204" pitchFamily="34" charset="0"/>
            </a:endParaRPr>
          </a:p>
        </p:txBody>
      </p:sp>
      <p:sp>
        <p:nvSpPr>
          <p:cNvPr id="19" name="TextBox 18">
            <a:extLst>
              <a:ext uri="{FF2B5EF4-FFF2-40B4-BE49-F238E27FC236}">
                <a16:creationId xmlns:a16="http://schemas.microsoft.com/office/drawing/2014/main" id="{08A5CF95-BA32-BB91-CFAE-2C2B1C5B8DCC}"/>
              </a:ext>
            </a:extLst>
          </p:cNvPr>
          <p:cNvSpPr txBox="1"/>
          <p:nvPr/>
        </p:nvSpPr>
        <p:spPr>
          <a:xfrm>
            <a:off x="457200" y="2999102"/>
            <a:ext cx="4826000" cy="146194"/>
          </a:xfrm>
          <a:prstGeom prst="rect">
            <a:avLst/>
          </a:prstGeom>
          <a:noFill/>
        </p:spPr>
        <p:txBody>
          <a:bodyPr vert="horz" wrap="square" lIns="0" tIns="0" rIns="0" bIns="0" rtlCol="0" anchor="ctr">
            <a:spAutoFit/>
          </a:bodyPr>
          <a:lstStyle/>
          <a:p>
            <a:r>
              <a:rPr lang="en-IN" sz="950" b="1">
                <a:solidFill>
                  <a:srgbClr val="FFFFFF"/>
                </a:solidFill>
              </a:rPr>
              <a:t>M3  LESION SEGMENTATION</a:t>
            </a:r>
          </a:p>
        </p:txBody>
      </p:sp>
      <p:sp>
        <p:nvSpPr>
          <p:cNvPr id="20" name="TextBox 19">
            <a:extLst>
              <a:ext uri="{FF2B5EF4-FFF2-40B4-BE49-F238E27FC236}">
                <a16:creationId xmlns:a16="http://schemas.microsoft.com/office/drawing/2014/main" id="{E731B85F-2B02-EAC8-86F9-31445BE0B3EB}"/>
              </a:ext>
            </a:extLst>
          </p:cNvPr>
          <p:cNvSpPr txBox="1"/>
          <p:nvPr/>
        </p:nvSpPr>
        <p:spPr>
          <a:xfrm>
            <a:off x="5283200" y="3006797"/>
            <a:ext cx="2133600" cy="130805"/>
          </a:xfrm>
          <a:prstGeom prst="rect">
            <a:avLst/>
          </a:prstGeom>
          <a:noFill/>
        </p:spPr>
        <p:txBody>
          <a:bodyPr vert="horz" wrap="square" lIns="0" tIns="0" rIns="0" bIns="0" rtlCol="0" anchor="ctr">
            <a:spAutoFit/>
          </a:bodyPr>
          <a:lstStyle/>
          <a:p>
            <a:pPr algn="r"/>
            <a:r>
              <a:rPr lang="en-IN" sz="850">
                <a:solidFill>
                  <a:srgbClr val="FFFFFF"/>
                </a:solidFill>
              </a:rPr>
              <a:t>Deep Learning + CV</a:t>
            </a:r>
          </a:p>
        </p:txBody>
      </p:sp>
      <p:sp>
        <p:nvSpPr>
          <p:cNvPr id="21" name="TextBox 20">
            <a:extLst>
              <a:ext uri="{FF2B5EF4-FFF2-40B4-BE49-F238E27FC236}">
                <a16:creationId xmlns:a16="http://schemas.microsoft.com/office/drawing/2014/main" id="{C3827A9E-518A-7817-86C3-B0CFDE098EBA}"/>
              </a:ext>
            </a:extLst>
          </p:cNvPr>
          <p:cNvSpPr txBox="1"/>
          <p:nvPr/>
        </p:nvSpPr>
        <p:spPr>
          <a:xfrm>
            <a:off x="457200" y="3149600"/>
            <a:ext cx="6959600" cy="130805"/>
          </a:xfrm>
          <a:prstGeom prst="rect">
            <a:avLst/>
          </a:prstGeom>
          <a:noFill/>
        </p:spPr>
        <p:txBody>
          <a:bodyPr vert="horz" wrap="square" lIns="0" tIns="0" rIns="0" bIns="0" rtlCol="0" anchor="t">
            <a:spAutoFit/>
          </a:bodyPr>
          <a:lstStyle/>
          <a:p>
            <a:r>
              <a:rPr lang="en-IN" sz="850">
                <a:solidFill>
                  <a:srgbClr val="0B2545"/>
                </a:solidFill>
              </a:rPr>
              <a:t>ResNet-18 encoder + U-Net decoder, 5 channels, native resolution, focal-Tversky loss</a:t>
            </a:r>
          </a:p>
        </p:txBody>
      </p:sp>
      <p:sp>
        <p:nvSpPr>
          <p:cNvPr id="22" name="Rectangle 21">
            <a:extLst>
              <a:ext uri="{FF2B5EF4-FFF2-40B4-BE49-F238E27FC236}">
                <a16:creationId xmlns:a16="http://schemas.microsoft.com/office/drawing/2014/main" id="{C6CAC9BE-54AA-1F69-74D5-C3E7E02592DD}"/>
              </a:ext>
            </a:extLst>
          </p:cNvPr>
          <p:cNvSpPr/>
          <p:nvPr/>
        </p:nvSpPr>
        <p:spPr>
          <a:xfrm>
            <a:off x="381000" y="3581400"/>
            <a:ext cx="7112000" cy="584200"/>
          </a:xfrm>
          <a:prstGeom prst="rect">
            <a:avLst/>
          </a:prstGeom>
          <a:solidFill>
            <a:srgbClr val="FFFFFF"/>
          </a:solidFill>
          <a:ln w="12700">
            <a:solidFill>
              <a:srgbClr val="0B254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23" name="Rectangle 22">
            <a:extLst>
              <a:ext uri="{FF2B5EF4-FFF2-40B4-BE49-F238E27FC236}">
                <a16:creationId xmlns:a16="http://schemas.microsoft.com/office/drawing/2014/main" id="{32B59ED6-F32E-7168-7139-A7D268608F2E}"/>
              </a:ext>
            </a:extLst>
          </p:cNvPr>
          <p:cNvSpPr/>
          <p:nvPr/>
        </p:nvSpPr>
        <p:spPr>
          <a:xfrm>
            <a:off x="381000" y="3581400"/>
            <a:ext cx="7112000" cy="203200"/>
          </a:xfrm>
          <a:prstGeom prst="rect">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FFFFFF"/>
              </a:solidFill>
              <a:latin typeface="Calibri" panose="020F0502020204030204" pitchFamily="34" charset="0"/>
            </a:endParaRPr>
          </a:p>
        </p:txBody>
      </p:sp>
      <p:sp>
        <p:nvSpPr>
          <p:cNvPr id="24" name="TextBox 23">
            <a:extLst>
              <a:ext uri="{FF2B5EF4-FFF2-40B4-BE49-F238E27FC236}">
                <a16:creationId xmlns:a16="http://schemas.microsoft.com/office/drawing/2014/main" id="{1A888374-1EF1-0F54-A1D8-212427107259}"/>
              </a:ext>
            </a:extLst>
          </p:cNvPr>
          <p:cNvSpPr txBox="1"/>
          <p:nvPr/>
        </p:nvSpPr>
        <p:spPr>
          <a:xfrm>
            <a:off x="457200" y="3659502"/>
            <a:ext cx="4826000" cy="146194"/>
          </a:xfrm>
          <a:prstGeom prst="rect">
            <a:avLst/>
          </a:prstGeom>
          <a:noFill/>
        </p:spPr>
        <p:txBody>
          <a:bodyPr vert="horz" wrap="square" lIns="0" tIns="0" rIns="0" bIns="0" rtlCol="0" anchor="ctr">
            <a:spAutoFit/>
          </a:bodyPr>
          <a:lstStyle/>
          <a:p>
            <a:r>
              <a:rPr lang="en-IN" sz="950" b="1">
                <a:solidFill>
                  <a:srgbClr val="FFFFFF"/>
                </a:solidFill>
              </a:rPr>
              <a:t>M4  GRADING + EXPLAINABILITY</a:t>
            </a:r>
          </a:p>
        </p:txBody>
      </p:sp>
      <p:sp>
        <p:nvSpPr>
          <p:cNvPr id="25" name="TextBox 24">
            <a:extLst>
              <a:ext uri="{FF2B5EF4-FFF2-40B4-BE49-F238E27FC236}">
                <a16:creationId xmlns:a16="http://schemas.microsoft.com/office/drawing/2014/main" id="{5C637003-A1E1-6130-4178-894B03359711}"/>
              </a:ext>
            </a:extLst>
          </p:cNvPr>
          <p:cNvSpPr txBox="1"/>
          <p:nvPr/>
        </p:nvSpPr>
        <p:spPr>
          <a:xfrm>
            <a:off x="5283200" y="3667197"/>
            <a:ext cx="2133600" cy="130805"/>
          </a:xfrm>
          <a:prstGeom prst="rect">
            <a:avLst/>
          </a:prstGeom>
          <a:noFill/>
        </p:spPr>
        <p:txBody>
          <a:bodyPr vert="horz" wrap="square" lIns="0" tIns="0" rIns="0" bIns="0" rtlCol="0" anchor="ctr">
            <a:spAutoFit/>
          </a:bodyPr>
          <a:lstStyle/>
          <a:p>
            <a:pPr algn="r"/>
            <a:r>
              <a:rPr lang="en-IN" sz="850">
                <a:solidFill>
                  <a:srgbClr val="FFFFFF"/>
                </a:solidFill>
              </a:rPr>
              <a:t>Deep Learning</a:t>
            </a:r>
          </a:p>
        </p:txBody>
      </p:sp>
      <p:sp>
        <p:nvSpPr>
          <p:cNvPr id="26" name="TextBox 25">
            <a:extLst>
              <a:ext uri="{FF2B5EF4-FFF2-40B4-BE49-F238E27FC236}">
                <a16:creationId xmlns:a16="http://schemas.microsoft.com/office/drawing/2014/main" id="{AB287A5D-0EF1-2E39-43C4-465E35CF4891}"/>
              </a:ext>
            </a:extLst>
          </p:cNvPr>
          <p:cNvSpPr txBox="1"/>
          <p:nvPr/>
        </p:nvSpPr>
        <p:spPr>
          <a:xfrm>
            <a:off x="457200" y="3810000"/>
            <a:ext cx="6959600" cy="130805"/>
          </a:xfrm>
          <a:prstGeom prst="rect">
            <a:avLst/>
          </a:prstGeom>
          <a:noFill/>
        </p:spPr>
        <p:txBody>
          <a:bodyPr vert="horz" wrap="square" lIns="0" tIns="0" rIns="0" bIns="0" rtlCol="0" anchor="t">
            <a:spAutoFit/>
          </a:bodyPr>
          <a:lstStyle/>
          <a:p>
            <a:r>
              <a:rPr lang="en-IN" sz="850">
                <a:solidFill>
                  <a:srgbClr val="0B2545"/>
                </a:solidFill>
              </a:rPr>
              <a:t>resnet18 · trainnet · gradCAM · operating point at sensitivity ≥ 0.90</a:t>
            </a:r>
          </a:p>
        </p:txBody>
      </p:sp>
      <p:sp>
        <p:nvSpPr>
          <p:cNvPr id="27" name="Rectangle 26">
            <a:extLst>
              <a:ext uri="{FF2B5EF4-FFF2-40B4-BE49-F238E27FC236}">
                <a16:creationId xmlns:a16="http://schemas.microsoft.com/office/drawing/2014/main" id="{2F7F5468-2C23-9278-D381-2E923DCCA1C8}"/>
              </a:ext>
            </a:extLst>
          </p:cNvPr>
          <p:cNvSpPr/>
          <p:nvPr/>
        </p:nvSpPr>
        <p:spPr>
          <a:xfrm>
            <a:off x="381000" y="4241800"/>
            <a:ext cx="7112000" cy="584200"/>
          </a:xfrm>
          <a:prstGeom prst="rect">
            <a:avLst/>
          </a:prstGeom>
          <a:solidFill>
            <a:srgbClr val="FFFFFF"/>
          </a:solidFill>
          <a:ln w="12700">
            <a:solidFill>
              <a:srgbClr val="0B2545"/>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28" name="Rectangle 27">
            <a:extLst>
              <a:ext uri="{FF2B5EF4-FFF2-40B4-BE49-F238E27FC236}">
                <a16:creationId xmlns:a16="http://schemas.microsoft.com/office/drawing/2014/main" id="{E4F73351-4698-DEF8-1856-C0D3912A2B5B}"/>
              </a:ext>
            </a:extLst>
          </p:cNvPr>
          <p:cNvSpPr/>
          <p:nvPr/>
        </p:nvSpPr>
        <p:spPr>
          <a:xfrm>
            <a:off x="381000" y="4241800"/>
            <a:ext cx="7112000" cy="203200"/>
          </a:xfrm>
          <a:prstGeom prst="rect">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FFFFFF"/>
              </a:solidFill>
              <a:latin typeface="Calibri" panose="020F0502020204030204" pitchFamily="34" charset="0"/>
            </a:endParaRPr>
          </a:p>
        </p:txBody>
      </p:sp>
      <p:sp>
        <p:nvSpPr>
          <p:cNvPr id="29" name="TextBox 28">
            <a:extLst>
              <a:ext uri="{FF2B5EF4-FFF2-40B4-BE49-F238E27FC236}">
                <a16:creationId xmlns:a16="http://schemas.microsoft.com/office/drawing/2014/main" id="{4883489F-E478-2D16-D616-453E20A03B84}"/>
              </a:ext>
            </a:extLst>
          </p:cNvPr>
          <p:cNvSpPr txBox="1"/>
          <p:nvPr/>
        </p:nvSpPr>
        <p:spPr>
          <a:xfrm>
            <a:off x="457200" y="4319902"/>
            <a:ext cx="4826000" cy="146194"/>
          </a:xfrm>
          <a:prstGeom prst="rect">
            <a:avLst/>
          </a:prstGeom>
          <a:noFill/>
        </p:spPr>
        <p:txBody>
          <a:bodyPr vert="horz" wrap="square" lIns="0" tIns="0" rIns="0" bIns="0" rtlCol="0" anchor="ctr">
            <a:spAutoFit/>
          </a:bodyPr>
          <a:lstStyle/>
          <a:p>
            <a:r>
              <a:rPr lang="en-IN" sz="950" b="1">
                <a:solidFill>
                  <a:srgbClr val="FFFFFF"/>
                </a:solidFill>
              </a:rPr>
              <a:t>M5  DEPLOYMENT SIMULATION</a:t>
            </a:r>
          </a:p>
        </p:txBody>
      </p:sp>
      <p:sp>
        <p:nvSpPr>
          <p:cNvPr id="30" name="TextBox 29">
            <a:extLst>
              <a:ext uri="{FF2B5EF4-FFF2-40B4-BE49-F238E27FC236}">
                <a16:creationId xmlns:a16="http://schemas.microsoft.com/office/drawing/2014/main" id="{78CEA1BF-F9B0-EBAE-C142-CD7A9FE0A614}"/>
              </a:ext>
            </a:extLst>
          </p:cNvPr>
          <p:cNvSpPr txBox="1"/>
          <p:nvPr/>
        </p:nvSpPr>
        <p:spPr>
          <a:xfrm>
            <a:off x="5283200" y="4327597"/>
            <a:ext cx="2133600" cy="130805"/>
          </a:xfrm>
          <a:prstGeom prst="rect">
            <a:avLst/>
          </a:prstGeom>
          <a:noFill/>
        </p:spPr>
        <p:txBody>
          <a:bodyPr vert="horz" wrap="square" lIns="0" tIns="0" rIns="0" bIns="0" rtlCol="0" anchor="ctr">
            <a:spAutoFit/>
          </a:bodyPr>
          <a:lstStyle/>
          <a:p>
            <a:pPr algn="r"/>
            <a:r>
              <a:rPr lang="en-IN" sz="850">
                <a:solidFill>
                  <a:srgbClr val="FFFFFF"/>
                </a:solidFill>
              </a:rPr>
              <a:t>Simulink</a:t>
            </a:r>
          </a:p>
        </p:txBody>
      </p:sp>
      <p:sp>
        <p:nvSpPr>
          <p:cNvPr id="31" name="TextBox 30">
            <a:extLst>
              <a:ext uri="{FF2B5EF4-FFF2-40B4-BE49-F238E27FC236}">
                <a16:creationId xmlns:a16="http://schemas.microsoft.com/office/drawing/2014/main" id="{730E0C46-0CE2-AAC7-0261-CB5D69184F57}"/>
              </a:ext>
            </a:extLst>
          </p:cNvPr>
          <p:cNvSpPr txBox="1"/>
          <p:nvPr/>
        </p:nvSpPr>
        <p:spPr>
          <a:xfrm>
            <a:off x="457200" y="4470400"/>
            <a:ext cx="6959600" cy="130805"/>
          </a:xfrm>
          <a:prstGeom prst="rect">
            <a:avLst/>
          </a:prstGeom>
          <a:noFill/>
        </p:spPr>
        <p:txBody>
          <a:bodyPr vert="horz" wrap="square" lIns="0" tIns="0" rIns="0" bIns="0" rtlCol="0" anchor="t">
            <a:spAutoFit/>
          </a:bodyPr>
          <a:lstStyle/>
          <a:p>
            <a:r>
              <a:rPr lang="en-US" sz="850">
                <a:solidFill>
                  <a:srgbClr val="0B2545"/>
                </a:solidFill>
              </a:rPr>
              <a:t>discrete-time backlog model B(k+1)=max(0,B(k)+demand−capacity), two arms on identical arrivals</a:t>
            </a:r>
            <a:endParaRPr lang="en-IN" sz="850">
              <a:solidFill>
                <a:srgbClr val="0B2545"/>
              </a:solidFill>
            </a:endParaRPr>
          </a:p>
        </p:txBody>
      </p:sp>
      <p:sp>
        <p:nvSpPr>
          <p:cNvPr id="32" name="Rectangle: Rounded Corners 31">
            <a:extLst>
              <a:ext uri="{FF2B5EF4-FFF2-40B4-BE49-F238E27FC236}">
                <a16:creationId xmlns:a16="http://schemas.microsoft.com/office/drawing/2014/main" id="{599A657C-A4D7-C131-91AA-473FBC248254}"/>
              </a:ext>
            </a:extLst>
          </p:cNvPr>
          <p:cNvSpPr/>
          <p:nvPr/>
        </p:nvSpPr>
        <p:spPr>
          <a:xfrm>
            <a:off x="7696200" y="1600200"/>
            <a:ext cx="1905000" cy="266700"/>
          </a:xfrm>
          <a:prstGeom prst="roundRect">
            <a:avLst/>
          </a:prstGeom>
          <a:solidFill>
            <a:srgbClr val="FFFFFF"/>
          </a:solidFill>
          <a:ln w="12700">
            <a:solidFill>
              <a:srgbClr val="0E7C86"/>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900">
                <a:solidFill>
                  <a:srgbClr val="0E7C86"/>
                </a:solidFill>
                <a:latin typeface="Calibri" panose="020F0502020204030204" pitchFamily="34" charset="0"/>
              </a:rPr>
              <a:t>Image Processing</a:t>
            </a:r>
          </a:p>
        </p:txBody>
      </p:sp>
      <p:sp>
        <p:nvSpPr>
          <p:cNvPr id="33" name="Rectangle: Rounded Corners 32">
            <a:extLst>
              <a:ext uri="{FF2B5EF4-FFF2-40B4-BE49-F238E27FC236}">
                <a16:creationId xmlns:a16="http://schemas.microsoft.com/office/drawing/2014/main" id="{F7078798-0EEB-DD56-2F9E-8E208FFA440C}"/>
              </a:ext>
            </a:extLst>
          </p:cNvPr>
          <p:cNvSpPr/>
          <p:nvPr/>
        </p:nvSpPr>
        <p:spPr>
          <a:xfrm>
            <a:off x="7696200" y="1917700"/>
            <a:ext cx="1905000" cy="266700"/>
          </a:xfrm>
          <a:prstGeom prst="roundRect">
            <a:avLst/>
          </a:prstGeom>
          <a:solidFill>
            <a:srgbClr val="FFFFFF"/>
          </a:solidFill>
          <a:ln w="12700">
            <a:solidFill>
              <a:srgbClr val="0E7C86"/>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900">
                <a:solidFill>
                  <a:srgbClr val="0E7C86"/>
                </a:solidFill>
                <a:latin typeface="Calibri" panose="020F0502020204030204" pitchFamily="34" charset="0"/>
              </a:rPr>
              <a:t>Computer Vision</a:t>
            </a:r>
          </a:p>
        </p:txBody>
      </p:sp>
      <p:sp>
        <p:nvSpPr>
          <p:cNvPr id="34" name="Rectangle: Rounded Corners 33">
            <a:extLst>
              <a:ext uri="{FF2B5EF4-FFF2-40B4-BE49-F238E27FC236}">
                <a16:creationId xmlns:a16="http://schemas.microsoft.com/office/drawing/2014/main" id="{4744363D-A829-D1DF-B9DB-22B07FFA4E4E}"/>
              </a:ext>
            </a:extLst>
          </p:cNvPr>
          <p:cNvSpPr/>
          <p:nvPr/>
        </p:nvSpPr>
        <p:spPr>
          <a:xfrm>
            <a:off x="7696200" y="2235200"/>
            <a:ext cx="1905000" cy="266700"/>
          </a:xfrm>
          <a:prstGeom prst="roundRect">
            <a:avLst/>
          </a:prstGeom>
          <a:solidFill>
            <a:srgbClr val="FFFFFF"/>
          </a:solidFill>
          <a:ln w="12700">
            <a:solidFill>
              <a:srgbClr val="0E7C86"/>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900">
                <a:solidFill>
                  <a:srgbClr val="0E7C86"/>
                </a:solidFill>
                <a:latin typeface="Calibri" panose="020F0502020204030204" pitchFamily="34" charset="0"/>
              </a:rPr>
              <a:t>Deep Learning</a:t>
            </a:r>
          </a:p>
        </p:txBody>
      </p:sp>
      <p:sp>
        <p:nvSpPr>
          <p:cNvPr id="35" name="Rectangle: Rounded Corners 34">
            <a:extLst>
              <a:ext uri="{FF2B5EF4-FFF2-40B4-BE49-F238E27FC236}">
                <a16:creationId xmlns:a16="http://schemas.microsoft.com/office/drawing/2014/main" id="{6C636BB2-4A1D-4614-DEA8-BC178FC7CFEE}"/>
              </a:ext>
            </a:extLst>
          </p:cNvPr>
          <p:cNvSpPr/>
          <p:nvPr/>
        </p:nvSpPr>
        <p:spPr>
          <a:xfrm>
            <a:off x="7696200" y="2552700"/>
            <a:ext cx="1905000" cy="266700"/>
          </a:xfrm>
          <a:prstGeom prst="roundRect">
            <a:avLst/>
          </a:prstGeom>
          <a:solidFill>
            <a:srgbClr val="FFFFFF"/>
          </a:solidFill>
          <a:ln w="12700">
            <a:solidFill>
              <a:srgbClr val="0E7C86"/>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900">
                <a:solidFill>
                  <a:srgbClr val="0E7C86"/>
                </a:solidFill>
                <a:latin typeface="Calibri" panose="020F0502020204030204" pitchFamily="34" charset="0"/>
              </a:rPr>
              <a:t>Statistics &amp; ML</a:t>
            </a:r>
          </a:p>
        </p:txBody>
      </p:sp>
      <p:sp>
        <p:nvSpPr>
          <p:cNvPr id="36" name="Rectangle: Rounded Corners 35">
            <a:extLst>
              <a:ext uri="{FF2B5EF4-FFF2-40B4-BE49-F238E27FC236}">
                <a16:creationId xmlns:a16="http://schemas.microsoft.com/office/drawing/2014/main" id="{B2D52928-38DB-A87B-1859-6D7080A97ACB}"/>
              </a:ext>
            </a:extLst>
          </p:cNvPr>
          <p:cNvSpPr/>
          <p:nvPr/>
        </p:nvSpPr>
        <p:spPr>
          <a:xfrm>
            <a:off x="7696200" y="2870200"/>
            <a:ext cx="1905000" cy="266700"/>
          </a:xfrm>
          <a:prstGeom prst="roundRect">
            <a:avLst/>
          </a:prstGeom>
          <a:solidFill>
            <a:srgbClr val="FFFFFF"/>
          </a:solidFill>
          <a:ln w="12700">
            <a:solidFill>
              <a:srgbClr val="0E7C86"/>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900">
                <a:solidFill>
                  <a:srgbClr val="0E7C86"/>
                </a:solidFill>
                <a:latin typeface="Calibri" panose="020F0502020204030204" pitchFamily="34" charset="0"/>
              </a:rPr>
              <a:t>Parallel Computing</a:t>
            </a:r>
          </a:p>
        </p:txBody>
      </p:sp>
      <p:sp>
        <p:nvSpPr>
          <p:cNvPr id="37" name="Rectangle: Rounded Corners 36">
            <a:extLst>
              <a:ext uri="{FF2B5EF4-FFF2-40B4-BE49-F238E27FC236}">
                <a16:creationId xmlns:a16="http://schemas.microsoft.com/office/drawing/2014/main" id="{21B57AC7-5657-46B5-E0FE-26D16E9F6F8F}"/>
              </a:ext>
            </a:extLst>
          </p:cNvPr>
          <p:cNvSpPr/>
          <p:nvPr/>
        </p:nvSpPr>
        <p:spPr>
          <a:xfrm>
            <a:off x="7696200" y="3187700"/>
            <a:ext cx="1905000" cy="266700"/>
          </a:xfrm>
          <a:prstGeom prst="roundRect">
            <a:avLst/>
          </a:prstGeom>
          <a:solidFill>
            <a:srgbClr val="FFFFFF"/>
          </a:solidFill>
          <a:ln w="12700">
            <a:solidFill>
              <a:srgbClr val="0E7C86"/>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900">
                <a:solidFill>
                  <a:srgbClr val="0E7C86"/>
                </a:solidFill>
                <a:latin typeface="Calibri" panose="020F0502020204030204" pitchFamily="34" charset="0"/>
              </a:rPr>
              <a:t>Simulink</a:t>
            </a:r>
          </a:p>
        </p:txBody>
      </p:sp>
      <p:sp>
        <p:nvSpPr>
          <p:cNvPr id="38" name="TextBox 37">
            <a:extLst>
              <a:ext uri="{FF2B5EF4-FFF2-40B4-BE49-F238E27FC236}">
                <a16:creationId xmlns:a16="http://schemas.microsoft.com/office/drawing/2014/main" id="{6D1C48C3-BF50-230A-4FE9-733EA6050DF0}"/>
              </a:ext>
            </a:extLst>
          </p:cNvPr>
          <p:cNvSpPr txBox="1"/>
          <p:nvPr/>
        </p:nvSpPr>
        <p:spPr>
          <a:xfrm>
            <a:off x="7696200" y="3530600"/>
            <a:ext cx="1905000" cy="138499"/>
          </a:xfrm>
          <a:prstGeom prst="rect">
            <a:avLst/>
          </a:prstGeom>
          <a:noFill/>
        </p:spPr>
        <p:txBody>
          <a:bodyPr vert="horz" wrap="square" lIns="0" tIns="0" rIns="0" bIns="0" rtlCol="0" anchor="t">
            <a:spAutoFit/>
          </a:bodyPr>
          <a:lstStyle/>
          <a:p>
            <a:pPr algn="ctr"/>
            <a:r>
              <a:rPr lang="en-IN" sz="900" i="1">
                <a:solidFill>
                  <a:srgbClr val="78828C"/>
                </a:solidFill>
              </a:rPr>
              <a:t>verified installed, R2026a</a:t>
            </a:r>
          </a:p>
        </p:txBody>
      </p:sp>
      <p:pic>
        <p:nvPicPr>
          <p:cNvPr id="40" name="Picture 39">
            <a:extLst>
              <a:ext uri="{FF2B5EF4-FFF2-40B4-BE49-F238E27FC236}">
                <a16:creationId xmlns:a16="http://schemas.microsoft.com/office/drawing/2014/main" id="{354F020E-FE00-8927-F9CB-9CE062C969CC}"/>
              </a:ext>
            </a:extLst>
          </p:cNvPr>
          <p:cNvPicPr>
            <a:picLocks/>
          </p:cNvPicPr>
          <p:nvPr/>
        </p:nvPicPr>
        <p:blipFill>
          <a:blip r:embed="rId4"/>
          <a:stretch>
            <a:fillRect/>
          </a:stretch>
        </p:blipFill>
        <p:spPr>
          <a:xfrm>
            <a:off x="7696200" y="3810000"/>
            <a:ext cx="4114800" cy="939800"/>
          </a:xfrm>
          <a:prstGeom prst="rect">
            <a:avLst/>
          </a:prstGeom>
        </p:spPr>
      </p:pic>
      <p:sp>
        <p:nvSpPr>
          <p:cNvPr id="41" name="TextBox 40">
            <a:extLst>
              <a:ext uri="{FF2B5EF4-FFF2-40B4-BE49-F238E27FC236}">
                <a16:creationId xmlns:a16="http://schemas.microsoft.com/office/drawing/2014/main" id="{15B67404-ED18-CB13-B970-990687D696DF}"/>
              </a:ext>
            </a:extLst>
          </p:cNvPr>
          <p:cNvSpPr txBox="1"/>
          <p:nvPr/>
        </p:nvSpPr>
        <p:spPr>
          <a:xfrm>
            <a:off x="7696200" y="4775200"/>
            <a:ext cx="4114800" cy="138499"/>
          </a:xfrm>
          <a:prstGeom prst="rect">
            <a:avLst/>
          </a:prstGeom>
          <a:noFill/>
        </p:spPr>
        <p:txBody>
          <a:bodyPr vert="horz" wrap="square" lIns="0" tIns="0" rIns="0" bIns="0" rtlCol="0" anchor="t">
            <a:spAutoFit/>
          </a:bodyPr>
          <a:lstStyle/>
          <a:p>
            <a:pPr algn="ctr"/>
            <a:r>
              <a:rPr lang="en-IN" sz="900" i="1">
                <a:solidFill>
                  <a:srgbClr val="78828C"/>
                </a:solidFill>
              </a:rPr>
              <a:t>raw  →  enhanced  →  lesion overlay</a:t>
            </a:r>
          </a:p>
        </p:txBody>
      </p:sp>
      <p:graphicFrame>
        <p:nvGraphicFramePr>
          <p:cNvPr id="42" name="Table 41">
            <a:extLst>
              <a:ext uri="{FF2B5EF4-FFF2-40B4-BE49-F238E27FC236}">
                <a16:creationId xmlns:a16="http://schemas.microsoft.com/office/drawing/2014/main" id="{15C6B639-A202-5D44-52A3-8D72B8AFED39}"/>
              </a:ext>
            </a:extLst>
          </p:cNvPr>
          <p:cNvGraphicFramePr>
            <a:graphicFrameLocks noGrp="1"/>
          </p:cNvGraphicFramePr>
          <p:nvPr>
            <p:extLst>
              <p:ext uri="{D42A27DB-BD31-4B8C-83A1-F6EECF244321}">
                <p14:modId xmlns:p14="http://schemas.microsoft.com/office/powerpoint/2010/main" val="2877026158"/>
              </p:ext>
            </p:extLst>
          </p:nvPr>
        </p:nvGraphicFramePr>
        <p:xfrm>
          <a:off x="381000" y="5054600"/>
          <a:ext cx="11430000" cy="9652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323702645"/>
                    </a:ext>
                  </a:extLst>
                </a:gridCol>
                <a:gridCol w="1651000">
                  <a:extLst>
                    <a:ext uri="{9D8B030D-6E8A-4147-A177-3AD203B41FA5}">
                      <a16:colId xmlns:a16="http://schemas.microsoft.com/office/drawing/2014/main" val="2029289625"/>
                    </a:ext>
                  </a:extLst>
                </a:gridCol>
                <a:gridCol w="7874000">
                  <a:extLst>
                    <a:ext uri="{9D8B030D-6E8A-4147-A177-3AD203B41FA5}">
                      <a16:colId xmlns:a16="http://schemas.microsoft.com/office/drawing/2014/main" val="4278801771"/>
                    </a:ext>
                  </a:extLst>
                </a:gridCol>
              </a:tblGrid>
              <a:tr h="241300">
                <a:tc>
                  <a:txBody>
                    <a:bodyPr/>
                    <a:lstStyle/>
                    <a:p>
                      <a:r>
                        <a:rPr lang="en-IN" sz="900" b="1">
                          <a:solidFill>
                            <a:srgbClr val="FFFFFF"/>
                          </a:solidFill>
                          <a:latin typeface="Calibri" panose="020F0502020204030204" pitchFamily="34" charset="0"/>
                        </a:rPr>
                        <a:t>Dataset</a:t>
                      </a:r>
                    </a:p>
                  </a:txBody>
                  <a:tcPr marL="63500" marT="12700" marB="12700">
                    <a:lnL w="12700" cmpd="sng">
                      <a:solidFill>
                        <a:srgbClr val="EDF0F2"/>
                      </a:solidFill>
                    </a:lnL>
                    <a:lnR w="12700" cmpd="sng">
                      <a:solidFill>
                        <a:srgbClr val="EDF0F2"/>
                      </a:solidFill>
                    </a:lnR>
                    <a:lnT w="12700" cmpd="sng">
                      <a:solidFill>
                        <a:srgbClr val="EDF0F2"/>
                      </a:solidFill>
                    </a:lnT>
                    <a:lnB w="38100" cmpd="sng">
                      <a:solidFill>
                        <a:srgbClr val="EDF0F2"/>
                      </a:solidFill>
                    </a:lnB>
                    <a:solidFill>
                      <a:srgbClr val="0E7C86"/>
                    </a:solidFill>
                  </a:tcPr>
                </a:tc>
                <a:tc>
                  <a:txBody>
                    <a:bodyPr/>
                    <a:lstStyle/>
                    <a:p>
                      <a:r>
                        <a:rPr lang="en-IN" sz="900" b="1">
                          <a:solidFill>
                            <a:srgbClr val="FFFFFF"/>
                          </a:solidFill>
                          <a:latin typeface="Calibri" panose="020F0502020204030204" pitchFamily="34" charset="0"/>
                        </a:rPr>
                        <a:t>Images used</a:t>
                      </a:r>
                    </a:p>
                  </a:txBody>
                  <a:tcPr marL="63500" marT="12700" marB="12700">
                    <a:lnL w="12700" cmpd="sng">
                      <a:solidFill>
                        <a:srgbClr val="EDF0F2"/>
                      </a:solidFill>
                    </a:lnL>
                    <a:lnR w="12700" cmpd="sng">
                      <a:solidFill>
                        <a:srgbClr val="EDF0F2"/>
                      </a:solidFill>
                    </a:lnR>
                    <a:lnT w="12700" cmpd="sng">
                      <a:solidFill>
                        <a:srgbClr val="EDF0F2"/>
                      </a:solidFill>
                    </a:lnT>
                    <a:lnB w="38100" cmpd="sng">
                      <a:solidFill>
                        <a:srgbClr val="EDF0F2"/>
                      </a:solidFill>
                    </a:lnB>
                    <a:solidFill>
                      <a:srgbClr val="0E7C86"/>
                    </a:solidFill>
                  </a:tcPr>
                </a:tc>
                <a:tc>
                  <a:txBody>
                    <a:bodyPr/>
                    <a:lstStyle/>
                    <a:p>
                      <a:r>
                        <a:rPr lang="en-IN" sz="900" b="1">
                          <a:solidFill>
                            <a:srgbClr val="FFFFFF"/>
                          </a:solidFill>
                          <a:latin typeface="Calibri" panose="020F0502020204030204" pitchFamily="34" charset="0"/>
                        </a:rPr>
                        <a:t>Role in this build</a:t>
                      </a:r>
                    </a:p>
                  </a:txBody>
                  <a:tcPr marL="63500" marT="12700" marB="12700">
                    <a:lnL w="12700" cmpd="sng">
                      <a:solidFill>
                        <a:srgbClr val="EDF0F2"/>
                      </a:solidFill>
                    </a:lnL>
                    <a:lnR w="12700" cmpd="sng">
                      <a:solidFill>
                        <a:srgbClr val="EDF0F2"/>
                      </a:solidFill>
                    </a:lnR>
                    <a:lnT w="12700" cmpd="sng">
                      <a:solidFill>
                        <a:srgbClr val="EDF0F2"/>
                      </a:solidFill>
                    </a:lnT>
                    <a:lnB w="38100" cmpd="sng">
                      <a:solidFill>
                        <a:srgbClr val="EDF0F2"/>
                      </a:solidFill>
                    </a:lnB>
                    <a:solidFill>
                      <a:srgbClr val="0E7C86"/>
                    </a:solidFill>
                  </a:tcPr>
                </a:tc>
                <a:extLst>
                  <a:ext uri="{0D108BD9-81ED-4DB2-BD59-A6C34878D82A}">
                    <a16:rowId xmlns:a16="http://schemas.microsoft.com/office/drawing/2014/main" val="3329199908"/>
                  </a:ext>
                </a:extLst>
              </a:tr>
              <a:tr h="241300">
                <a:tc>
                  <a:txBody>
                    <a:bodyPr/>
                    <a:lstStyle/>
                    <a:p>
                      <a:r>
                        <a:rPr lang="en-IN" sz="900">
                          <a:solidFill>
                            <a:srgbClr val="0B2545"/>
                          </a:solidFill>
                          <a:latin typeface="Calibri" panose="020F0502020204030204" pitchFamily="34" charset="0"/>
                        </a:rPr>
                        <a:t>APTOS 2019</a:t>
                      </a:r>
                    </a:p>
                  </a:txBody>
                  <a:tcPr marL="63500" marT="12700" marB="12700">
                    <a:lnL w="12700" cmpd="sng">
                      <a:solidFill>
                        <a:srgbClr val="EDF0F2"/>
                      </a:solidFill>
                    </a:lnL>
                    <a:lnR w="12700" cmpd="sng">
                      <a:solidFill>
                        <a:srgbClr val="EDF0F2"/>
                      </a:solidFill>
                    </a:lnR>
                    <a:lnT w="38100" cmpd="sng">
                      <a:solidFill>
                        <a:srgbClr val="EDF0F2"/>
                      </a:solidFill>
                    </a:lnT>
                    <a:lnB w="12700" cmpd="sng">
                      <a:solidFill>
                        <a:srgbClr val="EDF0F2"/>
                      </a:solidFill>
                    </a:lnB>
                    <a:solidFill>
                      <a:srgbClr val="FFFFFF"/>
                    </a:solidFill>
                  </a:tcPr>
                </a:tc>
                <a:tc>
                  <a:txBody>
                    <a:bodyPr/>
                    <a:lstStyle/>
                    <a:p>
                      <a:r>
                        <a:rPr lang="en-IN" sz="900">
                          <a:solidFill>
                            <a:srgbClr val="0B2545"/>
                          </a:solidFill>
                          <a:latin typeface="Calibri" panose="020F0502020204030204" pitchFamily="34" charset="0"/>
                        </a:rPr>
                        <a:t>3,662</a:t>
                      </a:r>
                    </a:p>
                  </a:txBody>
                  <a:tcPr marL="63500" marT="12700" marB="12700">
                    <a:lnL w="12700" cmpd="sng">
                      <a:solidFill>
                        <a:srgbClr val="EDF0F2"/>
                      </a:solidFill>
                    </a:lnL>
                    <a:lnR w="12700" cmpd="sng">
                      <a:solidFill>
                        <a:srgbClr val="EDF0F2"/>
                      </a:solidFill>
                    </a:lnR>
                    <a:lnT w="38100" cmpd="sng">
                      <a:solidFill>
                        <a:srgbClr val="EDF0F2"/>
                      </a:solidFill>
                    </a:lnT>
                    <a:lnB w="12700" cmpd="sng">
                      <a:solidFill>
                        <a:srgbClr val="EDF0F2"/>
                      </a:solidFill>
                    </a:lnB>
                    <a:solidFill>
                      <a:srgbClr val="FFFFFF"/>
                    </a:solidFill>
                  </a:tcPr>
                </a:tc>
                <a:tc>
                  <a:txBody>
                    <a:bodyPr/>
                    <a:lstStyle/>
                    <a:p>
                      <a:r>
                        <a:rPr lang="en-US" sz="900">
                          <a:solidFill>
                            <a:srgbClr val="0B2545"/>
                          </a:solidFill>
                          <a:latin typeface="Calibri" panose="020F0502020204030204" pitchFamily="34" charset="0"/>
                        </a:rPr>
                        <a:t>ICDR 0–4 grading — train / val / sealed test</a:t>
                      </a:r>
                      <a:endParaRPr lang="en-IN" sz="900">
                        <a:solidFill>
                          <a:srgbClr val="0B2545"/>
                        </a:solidFill>
                        <a:latin typeface="Calibri" panose="020F0502020204030204" pitchFamily="34" charset="0"/>
                      </a:endParaRPr>
                    </a:p>
                  </a:txBody>
                  <a:tcPr marL="63500" marT="12700" marB="12700">
                    <a:lnL w="12700" cmpd="sng">
                      <a:solidFill>
                        <a:srgbClr val="EDF0F2"/>
                      </a:solidFill>
                    </a:lnL>
                    <a:lnR w="12700" cmpd="sng">
                      <a:solidFill>
                        <a:srgbClr val="EDF0F2"/>
                      </a:solidFill>
                    </a:lnR>
                    <a:lnT w="38100" cmpd="sng">
                      <a:solidFill>
                        <a:srgbClr val="EDF0F2"/>
                      </a:solidFill>
                    </a:lnT>
                    <a:lnB w="12700" cmpd="sng">
                      <a:solidFill>
                        <a:srgbClr val="EDF0F2"/>
                      </a:solidFill>
                    </a:lnB>
                    <a:solidFill>
                      <a:srgbClr val="FFFFFF"/>
                    </a:solidFill>
                  </a:tcPr>
                </a:tc>
                <a:extLst>
                  <a:ext uri="{0D108BD9-81ED-4DB2-BD59-A6C34878D82A}">
                    <a16:rowId xmlns:a16="http://schemas.microsoft.com/office/drawing/2014/main" val="12878746"/>
                  </a:ext>
                </a:extLst>
              </a:tr>
              <a:tr h="241300">
                <a:tc>
                  <a:txBody>
                    <a:bodyPr/>
                    <a:lstStyle/>
                    <a:p>
                      <a:r>
                        <a:rPr lang="en-IN" sz="900">
                          <a:solidFill>
                            <a:srgbClr val="0B2545"/>
                          </a:solidFill>
                          <a:latin typeface="Calibri" panose="020F0502020204030204" pitchFamily="34" charset="0"/>
                        </a:rPr>
                        <a:t>IDRiD (Indian)</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900">
                          <a:solidFill>
                            <a:srgbClr val="0B2545"/>
                          </a:solidFill>
                          <a:latin typeface="Calibri" panose="020F0502020204030204" pitchFamily="34" charset="0"/>
                        </a:rPr>
                        <a:t>81 pixel-annotated</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US" sz="900">
                          <a:solidFill>
                            <a:srgbClr val="0B2545"/>
                          </a:solidFill>
                          <a:latin typeface="Calibri" panose="020F0502020204030204" pitchFamily="34" charset="0"/>
                        </a:rPr>
                        <a:t>Lesion ground truth — 44 train / 10 val / 27 sealed test</a:t>
                      </a:r>
                      <a:endParaRPr lang="en-IN" sz="900">
                        <a:solidFill>
                          <a:srgbClr val="0B2545"/>
                        </a:solidFill>
                        <a:latin typeface="Calibri" panose="020F0502020204030204" pitchFamily="34" charset="0"/>
                      </a:endParaRP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extLst>
                  <a:ext uri="{0D108BD9-81ED-4DB2-BD59-A6C34878D82A}">
                    <a16:rowId xmlns:a16="http://schemas.microsoft.com/office/drawing/2014/main" val="3351641055"/>
                  </a:ext>
                </a:extLst>
              </a:tr>
              <a:tr h="241300">
                <a:tc>
                  <a:txBody>
                    <a:bodyPr/>
                    <a:lstStyle/>
                    <a:p>
                      <a:r>
                        <a:rPr lang="en-IN" sz="900">
                          <a:solidFill>
                            <a:srgbClr val="0B2545"/>
                          </a:solidFill>
                          <a:latin typeface="Calibri" panose="020F0502020204030204" pitchFamily="34" charset="0"/>
                        </a:rPr>
                        <a:t>Neovascularisation</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tc>
                  <a:txBody>
                    <a:bodyPr/>
                    <a:lstStyle/>
                    <a:p>
                      <a:r>
                        <a:rPr lang="en-IN" sz="900">
                          <a:solidFill>
                            <a:srgbClr val="0B2545"/>
                          </a:solidFill>
                          <a:latin typeface="Calibri" panose="020F0502020204030204" pitchFamily="34" charset="0"/>
                        </a:rPr>
                        <a:t>0</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tc>
                  <a:txBody>
                    <a:bodyPr/>
                    <a:lstStyle/>
                    <a:p>
                      <a:r>
                        <a:rPr lang="en-US" sz="900">
                          <a:solidFill>
                            <a:srgbClr val="0B2545"/>
                          </a:solidFill>
                          <a:latin typeface="Calibri" panose="020F0502020204030204" pitchFamily="34" charset="0"/>
                        </a:rPr>
                        <a:t>No pixel-level labels exist — not modelled, stated as a limit</a:t>
                      </a:r>
                      <a:endParaRPr lang="en-IN" sz="900">
                        <a:solidFill>
                          <a:srgbClr val="0B2545"/>
                        </a:solidFill>
                        <a:latin typeface="Calibri" panose="020F0502020204030204" pitchFamily="34" charset="0"/>
                      </a:endParaRP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extLst>
                  <a:ext uri="{0D108BD9-81ED-4DB2-BD59-A6C34878D82A}">
                    <a16:rowId xmlns:a16="http://schemas.microsoft.com/office/drawing/2014/main" val="113218077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381000" y="1168400"/>
            <a:ext cx="9271000" cy="223138"/>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850" i="1">
                <a:solidFill>
                  <a:srgbClr val="78828C"/>
                </a:solidFill>
                <a:cs typeface="Arial" pitchFamily="34" charset="0"/>
              </a:rPr>
              <a:t>Analysis of the feasibility of the idea  ·  Potential challenges and risks  ·  Strategies for overcoming these challenges</a:t>
            </a:r>
            <a:endParaRPr kumimoji="0" lang="en-US" sz="850" i="1" u="none" strike="noStrike" kern="1200" cap="none" spc="0" normalizeH="0" baseline="0" noProof="0" dirty="0">
              <a:ln>
                <a:noFill/>
              </a:ln>
              <a:solidFill>
                <a:srgbClr val="78828C"/>
              </a:solidFill>
              <a:effectLst/>
              <a:uLnTx/>
              <a:uFillTx/>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F2E6DCC7-C734-7DD4-74EF-827A8BAF99F9}"/>
              </a:ext>
            </a:extLst>
          </p:cNvPr>
          <p:cNvSpPr txBox="1"/>
          <p:nvPr/>
        </p:nvSpPr>
        <p:spPr>
          <a:xfrm>
            <a:off x="381000" y="1574800"/>
            <a:ext cx="5588000" cy="169277"/>
          </a:xfrm>
          <a:prstGeom prst="rect">
            <a:avLst/>
          </a:prstGeom>
          <a:noFill/>
        </p:spPr>
        <p:txBody>
          <a:bodyPr vert="horz" wrap="square" lIns="0" tIns="0" rIns="0" bIns="0" rtlCol="0" anchor="t">
            <a:spAutoFit/>
          </a:bodyPr>
          <a:lstStyle/>
          <a:p>
            <a:r>
              <a:rPr lang="en-US" sz="1100" b="1">
                <a:solidFill>
                  <a:srgbClr val="0B2545"/>
                </a:solidFill>
              </a:rPr>
              <a:t>WHAT IS ACTUALLY BUILT AND MEASURED</a:t>
            </a:r>
            <a:endParaRPr lang="en-IN" sz="1100" b="1">
              <a:solidFill>
                <a:srgbClr val="0B2545"/>
              </a:solidFill>
            </a:endParaRPr>
          </a:p>
        </p:txBody>
      </p:sp>
      <p:sp>
        <p:nvSpPr>
          <p:cNvPr id="3" name="Rectangle 2">
            <a:extLst>
              <a:ext uri="{FF2B5EF4-FFF2-40B4-BE49-F238E27FC236}">
                <a16:creationId xmlns:a16="http://schemas.microsoft.com/office/drawing/2014/main" id="{D1FB09C1-C25D-CB3C-73C5-75BFF642E0AE}"/>
              </a:ext>
            </a:extLst>
          </p:cNvPr>
          <p:cNvSpPr/>
          <p:nvPr/>
        </p:nvSpPr>
        <p:spPr>
          <a:xfrm>
            <a:off x="381000" y="1854200"/>
            <a:ext cx="3327400" cy="228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r>
              <a:rPr lang="en-IN" sz="850">
                <a:solidFill>
                  <a:srgbClr val="0B2545"/>
                </a:solidFill>
                <a:latin typeface="Calibri" panose="020F0502020204030204" pitchFamily="34" charset="0"/>
              </a:rPr>
              <a:t>  Quality gate + enhancement</a:t>
            </a:r>
          </a:p>
        </p:txBody>
      </p:sp>
      <p:sp>
        <p:nvSpPr>
          <p:cNvPr id="4" name="Rectangle 3">
            <a:extLst>
              <a:ext uri="{FF2B5EF4-FFF2-40B4-BE49-F238E27FC236}">
                <a16:creationId xmlns:a16="http://schemas.microsoft.com/office/drawing/2014/main" id="{9C5E6608-470B-F711-6E83-2630FAF5F7F4}"/>
              </a:ext>
            </a:extLst>
          </p:cNvPr>
          <p:cNvSpPr/>
          <p:nvPr/>
        </p:nvSpPr>
        <p:spPr>
          <a:xfrm>
            <a:off x="3759200" y="1854200"/>
            <a:ext cx="2209800" cy="228600"/>
          </a:xfrm>
          <a:prstGeom prst="rect">
            <a:avLst/>
          </a:prstGeom>
          <a:solidFill>
            <a:srgbClr val="3E8E5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800" b="1">
                <a:solidFill>
                  <a:srgbClr val="FFFFFF"/>
                </a:solidFill>
                <a:latin typeface="Calibri" panose="020F0502020204030204" pitchFamily="34" charset="0"/>
              </a:rPr>
              <a:t>built+calibrated</a:t>
            </a:r>
          </a:p>
        </p:txBody>
      </p:sp>
      <p:sp>
        <p:nvSpPr>
          <p:cNvPr id="5" name="Rectangle 4">
            <a:extLst>
              <a:ext uri="{FF2B5EF4-FFF2-40B4-BE49-F238E27FC236}">
                <a16:creationId xmlns:a16="http://schemas.microsoft.com/office/drawing/2014/main" id="{DDBE8176-3653-42A5-7DE5-3B84322FEA92}"/>
              </a:ext>
            </a:extLst>
          </p:cNvPr>
          <p:cNvSpPr/>
          <p:nvPr/>
        </p:nvSpPr>
        <p:spPr>
          <a:xfrm>
            <a:off x="381000" y="2120900"/>
            <a:ext cx="3327400" cy="228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r>
              <a:rPr lang="en-IN" sz="850">
                <a:solidFill>
                  <a:srgbClr val="0B2545"/>
                </a:solidFill>
                <a:latin typeface="Calibri" panose="020F0502020204030204" pitchFamily="34" charset="0"/>
              </a:rPr>
              <a:t>  Lesion segmentation (5 channels)</a:t>
            </a:r>
          </a:p>
        </p:txBody>
      </p:sp>
      <p:sp>
        <p:nvSpPr>
          <p:cNvPr id="8" name="Rectangle 7">
            <a:extLst>
              <a:ext uri="{FF2B5EF4-FFF2-40B4-BE49-F238E27FC236}">
                <a16:creationId xmlns:a16="http://schemas.microsoft.com/office/drawing/2014/main" id="{11D4768B-9251-62FC-1D16-5785FA7E6ED7}"/>
              </a:ext>
            </a:extLst>
          </p:cNvPr>
          <p:cNvSpPr/>
          <p:nvPr/>
        </p:nvSpPr>
        <p:spPr>
          <a:xfrm>
            <a:off x="3759200" y="2120900"/>
            <a:ext cx="2209800" cy="228600"/>
          </a:xfrm>
          <a:prstGeom prst="rect">
            <a:avLst/>
          </a:prstGeom>
          <a:solidFill>
            <a:srgbClr val="3E8E5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800" b="1">
                <a:solidFill>
                  <a:srgbClr val="FFFFFF"/>
                </a:solidFill>
                <a:latin typeface="Calibri" panose="020F0502020204030204" pitchFamily="34" charset="0"/>
              </a:rPr>
              <a:t>trained+evaluated</a:t>
            </a:r>
          </a:p>
        </p:txBody>
      </p:sp>
      <p:sp>
        <p:nvSpPr>
          <p:cNvPr id="9" name="Rectangle 8">
            <a:extLst>
              <a:ext uri="{FF2B5EF4-FFF2-40B4-BE49-F238E27FC236}">
                <a16:creationId xmlns:a16="http://schemas.microsoft.com/office/drawing/2014/main" id="{283219AB-FE65-267A-9F3C-82340928B767}"/>
              </a:ext>
            </a:extLst>
          </p:cNvPr>
          <p:cNvSpPr/>
          <p:nvPr/>
        </p:nvSpPr>
        <p:spPr>
          <a:xfrm>
            <a:off x="381000" y="2387600"/>
            <a:ext cx="3327400" cy="228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r>
              <a:rPr lang="en-IN" sz="850">
                <a:solidFill>
                  <a:srgbClr val="0B2545"/>
                </a:solidFill>
                <a:latin typeface="Calibri" panose="020F0502020204030204" pitchFamily="34" charset="0"/>
              </a:rPr>
              <a:t>  DR grader (ResNet-18, ICDR 0–4)</a:t>
            </a:r>
          </a:p>
        </p:txBody>
      </p:sp>
      <p:sp>
        <p:nvSpPr>
          <p:cNvPr id="13" name="Rectangle 12">
            <a:extLst>
              <a:ext uri="{FF2B5EF4-FFF2-40B4-BE49-F238E27FC236}">
                <a16:creationId xmlns:a16="http://schemas.microsoft.com/office/drawing/2014/main" id="{8DD2A6FE-F25F-C0DB-3BAE-4069279220E7}"/>
              </a:ext>
            </a:extLst>
          </p:cNvPr>
          <p:cNvSpPr/>
          <p:nvPr/>
        </p:nvSpPr>
        <p:spPr>
          <a:xfrm>
            <a:off x="3759200" y="2387600"/>
            <a:ext cx="2209800" cy="228600"/>
          </a:xfrm>
          <a:prstGeom prst="rect">
            <a:avLst/>
          </a:prstGeom>
          <a:solidFill>
            <a:srgbClr val="3E8E5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800" b="1">
                <a:solidFill>
                  <a:srgbClr val="FFFFFF"/>
                </a:solidFill>
                <a:latin typeface="Calibri" panose="020F0502020204030204" pitchFamily="34" charset="0"/>
              </a:rPr>
              <a:t>trained+evaluated</a:t>
            </a:r>
          </a:p>
        </p:txBody>
      </p:sp>
      <p:sp>
        <p:nvSpPr>
          <p:cNvPr id="14" name="Rectangle 13">
            <a:extLst>
              <a:ext uri="{FF2B5EF4-FFF2-40B4-BE49-F238E27FC236}">
                <a16:creationId xmlns:a16="http://schemas.microsoft.com/office/drawing/2014/main" id="{0D7F18F6-17E1-9A63-7064-91FA957AE52B}"/>
              </a:ext>
            </a:extLst>
          </p:cNvPr>
          <p:cNvSpPr/>
          <p:nvPr/>
        </p:nvSpPr>
        <p:spPr>
          <a:xfrm>
            <a:off x="381000" y="2654300"/>
            <a:ext cx="3327400" cy="228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r>
              <a:rPr lang="en-IN" sz="850">
                <a:solidFill>
                  <a:srgbClr val="0B2545"/>
                </a:solidFill>
                <a:latin typeface="Calibri" panose="020F0502020204030204" pitchFamily="34" charset="0"/>
              </a:rPr>
              <a:t>  Grad-CAM explainability</a:t>
            </a:r>
          </a:p>
        </p:txBody>
      </p:sp>
      <p:sp>
        <p:nvSpPr>
          <p:cNvPr id="15" name="Rectangle 14">
            <a:extLst>
              <a:ext uri="{FF2B5EF4-FFF2-40B4-BE49-F238E27FC236}">
                <a16:creationId xmlns:a16="http://schemas.microsoft.com/office/drawing/2014/main" id="{833D40EB-2FFC-E25A-BE92-920D9D1EC028}"/>
              </a:ext>
            </a:extLst>
          </p:cNvPr>
          <p:cNvSpPr/>
          <p:nvPr/>
        </p:nvSpPr>
        <p:spPr>
          <a:xfrm>
            <a:off x="3759200" y="2654300"/>
            <a:ext cx="2209800" cy="228600"/>
          </a:xfrm>
          <a:prstGeom prst="rect">
            <a:avLst/>
          </a:prstGeom>
          <a:solidFill>
            <a:srgbClr val="3E8E5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800" b="1">
                <a:solidFill>
                  <a:srgbClr val="FFFFFF"/>
                </a:solidFill>
                <a:latin typeface="Calibri" panose="020F0502020204030204" pitchFamily="34" charset="0"/>
              </a:rPr>
              <a:t>built</a:t>
            </a:r>
          </a:p>
        </p:txBody>
      </p:sp>
      <p:sp>
        <p:nvSpPr>
          <p:cNvPr id="16" name="Rectangle 15">
            <a:extLst>
              <a:ext uri="{FF2B5EF4-FFF2-40B4-BE49-F238E27FC236}">
                <a16:creationId xmlns:a16="http://schemas.microsoft.com/office/drawing/2014/main" id="{006CEF5F-2D4F-6BC2-6C23-6DB40DD92FE3}"/>
              </a:ext>
            </a:extLst>
          </p:cNvPr>
          <p:cNvSpPr/>
          <p:nvPr/>
        </p:nvSpPr>
        <p:spPr>
          <a:xfrm>
            <a:off x="381000" y="2921000"/>
            <a:ext cx="3327400" cy="228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r>
              <a:rPr lang="en-IN" sz="850">
                <a:solidFill>
                  <a:srgbClr val="0B2545"/>
                </a:solidFill>
                <a:latin typeface="Calibri" panose="020F0502020204030204" pitchFamily="34" charset="0"/>
              </a:rPr>
              <a:t>  Dual-evidence check</a:t>
            </a:r>
          </a:p>
        </p:txBody>
      </p:sp>
      <p:sp>
        <p:nvSpPr>
          <p:cNvPr id="17" name="Rectangle 16">
            <a:extLst>
              <a:ext uri="{FF2B5EF4-FFF2-40B4-BE49-F238E27FC236}">
                <a16:creationId xmlns:a16="http://schemas.microsoft.com/office/drawing/2014/main" id="{FC937091-88D8-486C-FCAD-E403BD43C88C}"/>
              </a:ext>
            </a:extLst>
          </p:cNvPr>
          <p:cNvSpPr/>
          <p:nvPr/>
        </p:nvSpPr>
        <p:spPr>
          <a:xfrm>
            <a:off x="3759200" y="2921000"/>
            <a:ext cx="2209800" cy="228600"/>
          </a:xfrm>
          <a:prstGeom prst="rect">
            <a:avLst/>
          </a:prstGeom>
          <a:solidFill>
            <a:srgbClr val="3E8E5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800" b="1">
                <a:solidFill>
                  <a:srgbClr val="FFFFFF"/>
                </a:solidFill>
                <a:latin typeface="Calibri" panose="020F0502020204030204" pitchFamily="34" charset="0"/>
              </a:rPr>
              <a:t>built+measured</a:t>
            </a:r>
          </a:p>
        </p:txBody>
      </p:sp>
      <p:sp>
        <p:nvSpPr>
          <p:cNvPr id="18" name="Rectangle 17">
            <a:extLst>
              <a:ext uri="{FF2B5EF4-FFF2-40B4-BE49-F238E27FC236}">
                <a16:creationId xmlns:a16="http://schemas.microsoft.com/office/drawing/2014/main" id="{FA460588-D56F-5138-795B-8F58B3A0D48B}"/>
              </a:ext>
            </a:extLst>
          </p:cNvPr>
          <p:cNvSpPr/>
          <p:nvPr/>
        </p:nvSpPr>
        <p:spPr>
          <a:xfrm>
            <a:off x="381000" y="3187700"/>
            <a:ext cx="3327400" cy="228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r>
              <a:rPr lang="en-IN" sz="850">
                <a:solidFill>
                  <a:srgbClr val="0B2545"/>
                </a:solidFill>
                <a:latin typeface="Calibri" panose="020F0502020204030204" pitchFamily="34" charset="0"/>
              </a:rPr>
              <a:t>  App Designer GUI</a:t>
            </a:r>
          </a:p>
        </p:txBody>
      </p:sp>
      <p:sp>
        <p:nvSpPr>
          <p:cNvPr id="19" name="Rectangle 18">
            <a:extLst>
              <a:ext uri="{FF2B5EF4-FFF2-40B4-BE49-F238E27FC236}">
                <a16:creationId xmlns:a16="http://schemas.microsoft.com/office/drawing/2014/main" id="{E31C5347-48EF-491E-C419-3DFCB9AEB60C}"/>
              </a:ext>
            </a:extLst>
          </p:cNvPr>
          <p:cNvSpPr/>
          <p:nvPr/>
        </p:nvSpPr>
        <p:spPr>
          <a:xfrm>
            <a:off x="3759200" y="3187700"/>
            <a:ext cx="2209800" cy="228600"/>
          </a:xfrm>
          <a:prstGeom prst="rect">
            <a:avLst/>
          </a:prstGeom>
          <a:solidFill>
            <a:srgbClr val="3E8E5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800" b="1">
                <a:solidFill>
                  <a:srgbClr val="FFFFFF"/>
                </a:solidFill>
                <a:latin typeface="Calibri" panose="020F0502020204030204" pitchFamily="34" charset="0"/>
              </a:rPr>
              <a:t>built</a:t>
            </a:r>
          </a:p>
        </p:txBody>
      </p:sp>
      <p:sp>
        <p:nvSpPr>
          <p:cNvPr id="20" name="Rectangle 19">
            <a:extLst>
              <a:ext uri="{FF2B5EF4-FFF2-40B4-BE49-F238E27FC236}">
                <a16:creationId xmlns:a16="http://schemas.microsoft.com/office/drawing/2014/main" id="{1707DE3F-15F8-1635-FF48-7C831CC85FA2}"/>
              </a:ext>
            </a:extLst>
          </p:cNvPr>
          <p:cNvSpPr/>
          <p:nvPr/>
        </p:nvSpPr>
        <p:spPr>
          <a:xfrm>
            <a:off x="381000" y="3454400"/>
            <a:ext cx="3327400" cy="228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r>
              <a:rPr lang="en-IN" sz="850">
                <a:solidFill>
                  <a:srgbClr val="0B2545"/>
                </a:solidFill>
                <a:latin typeface="Calibri" panose="020F0502020204030204" pitchFamily="34" charset="0"/>
              </a:rPr>
              <a:t>  Simulink district model</a:t>
            </a:r>
          </a:p>
        </p:txBody>
      </p:sp>
      <p:sp>
        <p:nvSpPr>
          <p:cNvPr id="21" name="Rectangle 20">
            <a:extLst>
              <a:ext uri="{FF2B5EF4-FFF2-40B4-BE49-F238E27FC236}">
                <a16:creationId xmlns:a16="http://schemas.microsoft.com/office/drawing/2014/main" id="{3D4AD1C9-D289-7647-3200-7D1BDF82C6F1}"/>
              </a:ext>
            </a:extLst>
          </p:cNvPr>
          <p:cNvSpPr/>
          <p:nvPr/>
        </p:nvSpPr>
        <p:spPr>
          <a:xfrm>
            <a:off x="3759200" y="3454400"/>
            <a:ext cx="2209800" cy="228600"/>
          </a:xfrm>
          <a:prstGeom prst="rect">
            <a:avLst/>
          </a:prstGeom>
          <a:solidFill>
            <a:srgbClr val="3E8E5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800" b="1">
                <a:solidFill>
                  <a:srgbClr val="FFFFFF"/>
                </a:solidFill>
                <a:latin typeface="Calibri" panose="020F0502020204030204" pitchFamily="34" charset="0"/>
              </a:rPr>
              <a:t>built + simulated (core Simulink)</a:t>
            </a:r>
          </a:p>
        </p:txBody>
      </p:sp>
      <p:sp>
        <p:nvSpPr>
          <p:cNvPr id="22" name="Rectangle 21">
            <a:extLst>
              <a:ext uri="{FF2B5EF4-FFF2-40B4-BE49-F238E27FC236}">
                <a16:creationId xmlns:a16="http://schemas.microsoft.com/office/drawing/2014/main" id="{FAFD3536-C394-9615-E5B5-B0650253DCCE}"/>
              </a:ext>
            </a:extLst>
          </p:cNvPr>
          <p:cNvSpPr/>
          <p:nvPr/>
        </p:nvSpPr>
        <p:spPr>
          <a:xfrm>
            <a:off x="381000" y="3721100"/>
            <a:ext cx="3327400" cy="228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r>
              <a:rPr lang="en-IN" sz="850">
                <a:solidFill>
                  <a:srgbClr val="0B2545"/>
                </a:solidFill>
                <a:latin typeface="Calibri" panose="020F0502020204030204" pitchFamily="34" charset="0"/>
              </a:rPr>
              <a:t>  Neovascularisation detection</a:t>
            </a:r>
          </a:p>
        </p:txBody>
      </p:sp>
      <p:sp>
        <p:nvSpPr>
          <p:cNvPr id="23" name="Rectangle 22">
            <a:extLst>
              <a:ext uri="{FF2B5EF4-FFF2-40B4-BE49-F238E27FC236}">
                <a16:creationId xmlns:a16="http://schemas.microsoft.com/office/drawing/2014/main" id="{1CED9F4C-460C-7EF2-A119-CEA51F311424}"/>
              </a:ext>
            </a:extLst>
          </p:cNvPr>
          <p:cNvSpPr/>
          <p:nvPr/>
        </p:nvSpPr>
        <p:spPr>
          <a:xfrm>
            <a:off x="3759200" y="3721100"/>
            <a:ext cx="2209800" cy="228600"/>
          </a:xfrm>
          <a:prstGeom prst="rect">
            <a:avLst/>
          </a:prstGeom>
          <a:solidFill>
            <a:srgbClr val="C1272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US" sz="800" b="1">
                <a:solidFill>
                  <a:srgbClr val="FFFFFF"/>
                </a:solidFill>
                <a:latin typeface="Calibri" panose="020F0502020204030204" pitchFamily="34" charset="0"/>
              </a:rPr>
              <a:t>not built — no labels exist</a:t>
            </a:r>
            <a:endParaRPr lang="en-IN" sz="800" b="1">
              <a:solidFill>
                <a:srgbClr val="FFFFFF"/>
              </a:solidFill>
              <a:latin typeface="Calibri" panose="020F0502020204030204" pitchFamily="34" charset="0"/>
            </a:endParaRPr>
          </a:p>
        </p:txBody>
      </p:sp>
      <p:sp>
        <p:nvSpPr>
          <p:cNvPr id="24" name="TextBox 23">
            <a:extLst>
              <a:ext uri="{FF2B5EF4-FFF2-40B4-BE49-F238E27FC236}">
                <a16:creationId xmlns:a16="http://schemas.microsoft.com/office/drawing/2014/main" id="{1A6FD220-811E-2439-1852-DE741EF59E0E}"/>
              </a:ext>
            </a:extLst>
          </p:cNvPr>
          <p:cNvSpPr txBox="1"/>
          <p:nvPr/>
        </p:nvSpPr>
        <p:spPr>
          <a:xfrm>
            <a:off x="381000" y="4038600"/>
            <a:ext cx="5588000" cy="138499"/>
          </a:xfrm>
          <a:prstGeom prst="rect">
            <a:avLst/>
          </a:prstGeom>
          <a:noFill/>
        </p:spPr>
        <p:txBody>
          <a:bodyPr vert="horz" wrap="square" lIns="0" tIns="0" rIns="0" bIns="0" rtlCol="0" anchor="t">
            <a:spAutoFit/>
          </a:bodyPr>
          <a:lstStyle/>
          <a:p>
            <a:r>
              <a:rPr lang="en-US" sz="900" i="1">
                <a:solidFill>
                  <a:srgbClr val="78828C"/>
                </a:solidFill>
              </a:rPr>
              <a:t>Status words, not percentages — a percentage of a module is not a measurable thing.</a:t>
            </a:r>
            <a:endParaRPr lang="en-IN" sz="900" i="1">
              <a:solidFill>
                <a:srgbClr val="78828C"/>
              </a:solidFill>
            </a:endParaRPr>
          </a:p>
        </p:txBody>
      </p:sp>
      <p:sp>
        <p:nvSpPr>
          <p:cNvPr id="25" name="TextBox 24">
            <a:extLst>
              <a:ext uri="{FF2B5EF4-FFF2-40B4-BE49-F238E27FC236}">
                <a16:creationId xmlns:a16="http://schemas.microsoft.com/office/drawing/2014/main" id="{8791AB49-0838-7404-1C65-DEF9BF0501E0}"/>
              </a:ext>
            </a:extLst>
          </p:cNvPr>
          <p:cNvSpPr txBox="1"/>
          <p:nvPr/>
        </p:nvSpPr>
        <p:spPr>
          <a:xfrm>
            <a:off x="6197600" y="1574800"/>
            <a:ext cx="5613400" cy="169277"/>
          </a:xfrm>
          <a:prstGeom prst="rect">
            <a:avLst/>
          </a:prstGeom>
          <a:noFill/>
        </p:spPr>
        <p:txBody>
          <a:bodyPr vert="horz" wrap="square" lIns="0" tIns="0" rIns="0" bIns="0" rtlCol="0" anchor="t">
            <a:spAutoFit/>
          </a:bodyPr>
          <a:lstStyle/>
          <a:p>
            <a:r>
              <a:rPr lang="en-US" sz="1100" b="1">
                <a:solidFill>
                  <a:srgbClr val="0B2545"/>
                </a:solidFill>
              </a:rPr>
              <a:t>RISKS AND WHAT ABSORBS THEM</a:t>
            </a:r>
            <a:endParaRPr lang="en-IN" sz="1100" b="1">
              <a:solidFill>
                <a:srgbClr val="0B2545"/>
              </a:solidFill>
            </a:endParaRPr>
          </a:p>
        </p:txBody>
      </p:sp>
      <p:sp>
        <p:nvSpPr>
          <p:cNvPr id="26" name="Rectangle 25">
            <a:extLst>
              <a:ext uri="{FF2B5EF4-FFF2-40B4-BE49-F238E27FC236}">
                <a16:creationId xmlns:a16="http://schemas.microsoft.com/office/drawing/2014/main" id="{CF1D693F-1CEA-7A32-3251-DB3256535280}"/>
              </a:ext>
            </a:extLst>
          </p:cNvPr>
          <p:cNvSpPr/>
          <p:nvPr/>
        </p:nvSpPr>
        <p:spPr>
          <a:xfrm>
            <a:off x="6197600" y="1854200"/>
            <a:ext cx="76200" cy="317500"/>
          </a:xfrm>
          <a:prstGeom prst="rect">
            <a:avLst/>
          </a:prstGeom>
          <a:solidFill>
            <a:srgbClr val="C1272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800">
              <a:solidFill>
                <a:srgbClr val="FFFFFF"/>
              </a:solidFill>
              <a:latin typeface="Calibri" panose="020F0502020204030204" pitchFamily="34" charset="0"/>
            </a:endParaRPr>
          </a:p>
        </p:txBody>
      </p:sp>
      <p:sp>
        <p:nvSpPr>
          <p:cNvPr id="27" name="TextBox 26">
            <a:extLst>
              <a:ext uri="{FF2B5EF4-FFF2-40B4-BE49-F238E27FC236}">
                <a16:creationId xmlns:a16="http://schemas.microsoft.com/office/drawing/2014/main" id="{6BBDF604-278A-25D0-B1AB-C423B4008284}"/>
              </a:ext>
            </a:extLst>
          </p:cNvPr>
          <p:cNvSpPr txBox="1"/>
          <p:nvPr/>
        </p:nvSpPr>
        <p:spPr>
          <a:xfrm>
            <a:off x="6350000" y="1927297"/>
            <a:ext cx="2540000" cy="130805"/>
          </a:xfrm>
          <a:prstGeom prst="rect">
            <a:avLst/>
          </a:prstGeom>
          <a:noFill/>
        </p:spPr>
        <p:txBody>
          <a:bodyPr vert="horz" wrap="square" lIns="0" tIns="0" rIns="0" bIns="0" rtlCol="0" anchor="ctr">
            <a:spAutoFit/>
          </a:bodyPr>
          <a:lstStyle/>
          <a:p>
            <a:r>
              <a:rPr lang="en-IN" sz="850" b="1">
                <a:solidFill>
                  <a:srgbClr val="0B2545"/>
                </a:solidFill>
              </a:rPr>
              <a:t>Poor field image quality</a:t>
            </a:r>
          </a:p>
        </p:txBody>
      </p:sp>
      <p:sp>
        <p:nvSpPr>
          <p:cNvPr id="28" name="TextBox 27">
            <a:extLst>
              <a:ext uri="{FF2B5EF4-FFF2-40B4-BE49-F238E27FC236}">
                <a16:creationId xmlns:a16="http://schemas.microsoft.com/office/drawing/2014/main" id="{41A6F5F6-FA5B-69C3-2E29-7F0C9483E1E0}"/>
              </a:ext>
            </a:extLst>
          </p:cNvPr>
          <p:cNvSpPr txBox="1"/>
          <p:nvPr/>
        </p:nvSpPr>
        <p:spPr>
          <a:xfrm>
            <a:off x="8940800" y="1931144"/>
            <a:ext cx="2870200" cy="123111"/>
          </a:xfrm>
          <a:prstGeom prst="rect">
            <a:avLst/>
          </a:prstGeom>
          <a:noFill/>
        </p:spPr>
        <p:txBody>
          <a:bodyPr vert="horz" wrap="square" lIns="0" tIns="0" rIns="0" bIns="0" rtlCol="0" anchor="ctr">
            <a:spAutoFit/>
          </a:bodyPr>
          <a:lstStyle/>
          <a:p>
            <a:r>
              <a:rPr lang="en-US" sz="800">
                <a:solidFill>
                  <a:srgbClr val="78828C"/>
                </a:solidFill>
              </a:rPr>
              <a:t>quality gate refuses and instructs recapture</a:t>
            </a:r>
            <a:endParaRPr lang="en-IN" sz="800">
              <a:solidFill>
                <a:srgbClr val="78828C"/>
              </a:solidFill>
            </a:endParaRPr>
          </a:p>
        </p:txBody>
      </p:sp>
      <p:sp>
        <p:nvSpPr>
          <p:cNvPr id="29" name="Rectangle 28">
            <a:extLst>
              <a:ext uri="{FF2B5EF4-FFF2-40B4-BE49-F238E27FC236}">
                <a16:creationId xmlns:a16="http://schemas.microsoft.com/office/drawing/2014/main" id="{EDAAB765-3D45-A15F-62F8-FC7B449982A3}"/>
              </a:ext>
            </a:extLst>
          </p:cNvPr>
          <p:cNvSpPr/>
          <p:nvPr/>
        </p:nvSpPr>
        <p:spPr>
          <a:xfrm>
            <a:off x="6197600" y="2222500"/>
            <a:ext cx="76200" cy="317500"/>
          </a:xfrm>
          <a:prstGeom prst="rect">
            <a:avLst/>
          </a:prstGeom>
          <a:solidFill>
            <a:srgbClr val="F0A20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800">
              <a:solidFill>
                <a:srgbClr val="FFFFFF"/>
              </a:solidFill>
              <a:latin typeface="Calibri" panose="020F0502020204030204" pitchFamily="34" charset="0"/>
            </a:endParaRPr>
          </a:p>
        </p:txBody>
      </p:sp>
      <p:sp>
        <p:nvSpPr>
          <p:cNvPr id="30" name="TextBox 29">
            <a:extLst>
              <a:ext uri="{FF2B5EF4-FFF2-40B4-BE49-F238E27FC236}">
                <a16:creationId xmlns:a16="http://schemas.microsoft.com/office/drawing/2014/main" id="{8B2F8356-33D1-92AE-8D81-C3A7B800149C}"/>
              </a:ext>
            </a:extLst>
          </p:cNvPr>
          <p:cNvSpPr txBox="1"/>
          <p:nvPr/>
        </p:nvSpPr>
        <p:spPr>
          <a:xfrm>
            <a:off x="6350000" y="2295597"/>
            <a:ext cx="2540000" cy="130805"/>
          </a:xfrm>
          <a:prstGeom prst="rect">
            <a:avLst/>
          </a:prstGeom>
          <a:noFill/>
        </p:spPr>
        <p:txBody>
          <a:bodyPr vert="horz" wrap="square" lIns="0" tIns="0" rIns="0" bIns="0" rtlCol="0" anchor="ctr">
            <a:spAutoFit/>
          </a:bodyPr>
          <a:lstStyle/>
          <a:p>
            <a:r>
              <a:rPr lang="en-US" sz="850" b="1">
                <a:solidFill>
                  <a:srgbClr val="0B2545"/>
                </a:solidFill>
              </a:rPr>
              <a:t>Class imbalance (few grade 3–4)</a:t>
            </a:r>
            <a:endParaRPr lang="en-IN" sz="850" b="1">
              <a:solidFill>
                <a:srgbClr val="0B2545"/>
              </a:solidFill>
            </a:endParaRPr>
          </a:p>
        </p:txBody>
      </p:sp>
      <p:sp>
        <p:nvSpPr>
          <p:cNvPr id="31" name="TextBox 30">
            <a:extLst>
              <a:ext uri="{FF2B5EF4-FFF2-40B4-BE49-F238E27FC236}">
                <a16:creationId xmlns:a16="http://schemas.microsoft.com/office/drawing/2014/main" id="{EB2A8A7C-E155-114F-8A73-6AC98FDEE4B7}"/>
              </a:ext>
            </a:extLst>
          </p:cNvPr>
          <p:cNvSpPr txBox="1"/>
          <p:nvPr/>
        </p:nvSpPr>
        <p:spPr>
          <a:xfrm>
            <a:off x="8940800" y="2299444"/>
            <a:ext cx="2870200" cy="123111"/>
          </a:xfrm>
          <a:prstGeom prst="rect">
            <a:avLst/>
          </a:prstGeom>
          <a:noFill/>
        </p:spPr>
        <p:txBody>
          <a:bodyPr vert="horz" wrap="square" lIns="0" tIns="0" rIns="0" bIns="0" rtlCol="0" anchor="ctr">
            <a:spAutoFit/>
          </a:bodyPr>
          <a:lstStyle/>
          <a:p>
            <a:r>
              <a:rPr lang="en-IN" sz="800">
                <a:solidFill>
                  <a:srgbClr val="78828C"/>
                </a:solidFill>
              </a:rPr>
              <a:t>inverse-sqrt class weights + augmentation</a:t>
            </a:r>
          </a:p>
        </p:txBody>
      </p:sp>
      <p:sp>
        <p:nvSpPr>
          <p:cNvPr id="32" name="Rectangle 31">
            <a:extLst>
              <a:ext uri="{FF2B5EF4-FFF2-40B4-BE49-F238E27FC236}">
                <a16:creationId xmlns:a16="http://schemas.microsoft.com/office/drawing/2014/main" id="{3F4D4D13-6A8F-A317-8190-097E967B2F3E}"/>
              </a:ext>
            </a:extLst>
          </p:cNvPr>
          <p:cNvSpPr/>
          <p:nvPr/>
        </p:nvSpPr>
        <p:spPr>
          <a:xfrm>
            <a:off x="6197600" y="2590800"/>
            <a:ext cx="76200" cy="317500"/>
          </a:xfrm>
          <a:prstGeom prst="rect">
            <a:avLst/>
          </a:prstGeom>
          <a:solidFill>
            <a:srgbClr val="F0A20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800">
              <a:solidFill>
                <a:srgbClr val="FFFFFF"/>
              </a:solidFill>
              <a:latin typeface="Calibri" panose="020F0502020204030204" pitchFamily="34" charset="0"/>
            </a:endParaRPr>
          </a:p>
        </p:txBody>
      </p:sp>
      <p:sp>
        <p:nvSpPr>
          <p:cNvPr id="33" name="TextBox 32">
            <a:extLst>
              <a:ext uri="{FF2B5EF4-FFF2-40B4-BE49-F238E27FC236}">
                <a16:creationId xmlns:a16="http://schemas.microsoft.com/office/drawing/2014/main" id="{539767BD-2086-7FD6-A9E2-E1C42147A401}"/>
              </a:ext>
            </a:extLst>
          </p:cNvPr>
          <p:cNvSpPr txBox="1"/>
          <p:nvPr/>
        </p:nvSpPr>
        <p:spPr>
          <a:xfrm>
            <a:off x="6350000" y="2663897"/>
            <a:ext cx="2540000" cy="130805"/>
          </a:xfrm>
          <a:prstGeom prst="rect">
            <a:avLst/>
          </a:prstGeom>
          <a:noFill/>
        </p:spPr>
        <p:txBody>
          <a:bodyPr vert="horz" wrap="square" lIns="0" tIns="0" rIns="0" bIns="0" rtlCol="0" anchor="ctr">
            <a:spAutoFit/>
          </a:bodyPr>
          <a:lstStyle/>
          <a:p>
            <a:r>
              <a:rPr lang="en-IN" sz="850" b="1">
                <a:solidFill>
                  <a:srgbClr val="0B2545"/>
                </a:solidFill>
              </a:rPr>
              <a:t>Rural bandwidth limits</a:t>
            </a:r>
          </a:p>
        </p:txBody>
      </p:sp>
      <p:sp>
        <p:nvSpPr>
          <p:cNvPr id="34" name="TextBox 33">
            <a:extLst>
              <a:ext uri="{FF2B5EF4-FFF2-40B4-BE49-F238E27FC236}">
                <a16:creationId xmlns:a16="http://schemas.microsoft.com/office/drawing/2014/main" id="{9EC3DA76-5A43-9648-5C0A-9118A4B32B50}"/>
              </a:ext>
            </a:extLst>
          </p:cNvPr>
          <p:cNvSpPr txBox="1"/>
          <p:nvPr/>
        </p:nvSpPr>
        <p:spPr>
          <a:xfrm>
            <a:off x="8940800" y="2667744"/>
            <a:ext cx="2870200" cy="123111"/>
          </a:xfrm>
          <a:prstGeom prst="rect">
            <a:avLst/>
          </a:prstGeom>
          <a:noFill/>
        </p:spPr>
        <p:txBody>
          <a:bodyPr vert="horz" wrap="square" lIns="0" tIns="0" rIns="0" bIns="0" rtlCol="0" anchor="ctr">
            <a:spAutoFit/>
          </a:bodyPr>
          <a:lstStyle/>
          <a:p>
            <a:r>
              <a:rPr lang="en-US" sz="800">
                <a:solidFill>
                  <a:srgbClr val="78828C"/>
                </a:solidFill>
              </a:rPr>
              <a:t>edge inference, only flagged cases uploaded</a:t>
            </a:r>
            <a:endParaRPr lang="en-IN" sz="800">
              <a:solidFill>
                <a:srgbClr val="78828C"/>
              </a:solidFill>
            </a:endParaRPr>
          </a:p>
        </p:txBody>
      </p:sp>
      <p:sp>
        <p:nvSpPr>
          <p:cNvPr id="35" name="Rectangle 34">
            <a:extLst>
              <a:ext uri="{FF2B5EF4-FFF2-40B4-BE49-F238E27FC236}">
                <a16:creationId xmlns:a16="http://schemas.microsoft.com/office/drawing/2014/main" id="{BF8AB1FB-4D24-82CF-3A29-B6CA736191E8}"/>
              </a:ext>
            </a:extLst>
          </p:cNvPr>
          <p:cNvSpPr/>
          <p:nvPr/>
        </p:nvSpPr>
        <p:spPr>
          <a:xfrm>
            <a:off x="6197600" y="2959100"/>
            <a:ext cx="76200" cy="317500"/>
          </a:xfrm>
          <a:prstGeom prst="rect">
            <a:avLst/>
          </a:prstGeom>
          <a:solidFill>
            <a:srgbClr val="F0A20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800">
              <a:solidFill>
                <a:srgbClr val="FFFFFF"/>
              </a:solidFill>
              <a:latin typeface="Calibri" panose="020F0502020204030204" pitchFamily="34" charset="0"/>
            </a:endParaRPr>
          </a:p>
        </p:txBody>
      </p:sp>
      <p:sp>
        <p:nvSpPr>
          <p:cNvPr id="36" name="TextBox 35">
            <a:extLst>
              <a:ext uri="{FF2B5EF4-FFF2-40B4-BE49-F238E27FC236}">
                <a16:creationId xmlns:a16="http://schemas.microsoft.com/office/drawing/2014/main" id="{65014473-4C4C-5067-3861-F4E36C92AD3D}"/>
              </a:ext>
            </a:extLst>
          </p:cNvPr>
          <p:cNvSpPr txBox="1"/>
          <p:nvPr/>
        </p:nvSpPr>
        <p:spPr>
          <a:xfrm>
            <a:off x="6350000" y="3032197"/>
            <a:ext cx="2540000" cy="130805"/>
          </a:xfrm>
          <a:prstGeom prst="rect">
            <a:avLst/>
          </a:prstGeom>
          <a:noFill/>
        </p:spPr>
        <p:txBody>
          <a:bodyPr vert="horz" wrap="square" lIns="0" tIns="0" rIns="0" bIns="0" rtlCol="0" anchor="ctr">
            <a:spAutoFit/>
          </a:bodyPr>
          <a:lstStyle/>
          <a:p>
            <a:r>
              <a:rPr lang="en-IN" sz="850" b="1">
                <a:solidFill>
                  <a:srgbClr val="0B2545"/>
                </a:solidFill>
              </a:rPr>
              <a:t>Clinician distrust of AI</a:t>
            </a:r>
          </a:p>
        </p:txBody>
      </p:sp>
      <p:sp>
        <p:nvSpPr>
          <p:cNvPr id="37" name="TextBox 36">
            <a:extLst>
              <a:ext uri="{FF2B5EF4-FFF2-40B4-BE49-F238E27FC236}">
                <a16:creationId xmlns:a16="http://schemas.microsoft.com/office/drawing/2014/main" id="{67E9BEF9-5BD3-0D0B-EC72-16D60601713D}"/>
              </a:ext>
            </a:extLst>
          </p:cNvPr>
          <p:cNvSpPr txBox="1"/>
          <p:nvPr/>
        </p:nvSpPr>
        <p:spPr>
          <a:xfrm>
            <a:off x="8940800" y="3036044"/>
            <a:ext cx="2870200" cy="123111"/>
          </a:xfrm>
          <a:prstGeom prst="rect">
            <a:avLst/>
          </a:prstGeom>
          <a:noFill/>
        </p:spPr>
        <p:txBody>
          <a:bodyPr vert="horz" wrap="square" lIns="0" tIns="0" rIns="0" bIns="0" rtlCol="0" anchor="ctr">
            <a:spAutoFit/>
          </a:bodyPr>
          <a:lstStyle/>
          <a:p>
            <a:r>
              <a:rPr lang="en-IN" sz="800">
                <a:solidFill>
                  <a:srgbClr val="78828C"/>
                </a:solidFill>
              </a:rPr>
              <a:t>lesion evidence + Grad-CAM + human-in-the-loop</a:t>
            </a:r>
          </a:p>
        </p:txBody>
      </p:sp>
      <p:sp>
        <p:nvSpPr>
          <p:cNvPr id="38" name="Rectangle 37">
            <a:extLst>
              <a:ext uri="{FF2B5EF4-FFF2-40B4-BE49-F238E27FC236}">
                <a16:creationId xmlns:a16="http://schemas.microsoft.com/office/drawing/2014/main" id="{5F47667A-9F6E-94F7-FEB0-9681085FA1CB}"/>
              </a:ext>
            </a:extLst>
          </p:cNvPr>
          <p:cNvSpPr/>
          <p:nvPr/>
        </p:nvSpPr>
        <p:spPr>
          <a:xfrm>
            <a:off x="6197600" y="3327400"/>
            <a:ext cx="76200" cy="317500"/>
          </a:xfrm>
          <a:prstGeom prst="rect">
            <a:avLst/>
          </a:prstGeom>
          <a:solidFill>
            <a:srgbClr val="C1272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800">
              <a:solidFill>
                <a:srgbClr val="FFFFFF"/>
              </a:solidFill>
              <a:latin typeface="Calibri" panose="020F0502020204030204" pitchFamily="34" charset="0"/>
            </a:endParaRPr>
          </a:p>
        </p:txBody>
      </p:sp>
      <p:sp>
        <p:nvSpPr>
          <p:cNvPr id="39" name="TextBox 38">
            <a:extLst>
              <a:ext uri="{FF2B5EF4-FFF2-40B4-BE49-F238E27FC236}">
                <a16:creationId xmlns:a16="http://schemas.microsoft.com/office/drawing/2014/main" id="{6FDD8792-37BB-55B4-73F6-807186D89B96}"/>
              </a:ext>
            </a:extLst>
          </p:cNvPr>
          <p:cNvSpPr txBox="1"/>
          <p:nvPr/>
        </p:nvSpPr>
        <p:spPr>
          <a:xfrm>
            <a:off x="6350000" y="3400497"/>
            <a:ext cx="2540000" cy="130805"/>
          </a:xfrm>
          <a:prstGeom prst="rect">
            <a:avLst/>
          </a:prstGeom>
          <a:noFill/>
        </p:spPr>
        <p:txBody>
          <a:bodyPr vert="horz" wrap="square" lIns="0" tIns="0" rIns="0" bIns="0" rtlCol="0" anchor="ctr">
            <a:spAutoFit/>
          </a:bodyPr>
          <a:lstStyle/>
          <a:p>
            <a:r>
              <a:rPr lang="en-IN" sz="850" b="1">
                <a:solidFill>
                  <a:srgbClr val="0B2545"/>
                </a:solidFill>
              </a:rPr>
              <a:t>Domain shift across cameras</a:t>
            </a:r>
          </a:p>
        </p:txBody>
      </p:sp>
      <p:sp>
        <p:nvSpPr>
          <p:cNvPr id="40" name="TextBox 39">
            <a:extLst>
              <a:ext uri="{FF2B5EF4-FFF2-40B4-BE49-F238E27FC236}">
                <a16:creationId xmlns:a16="http://schemas.microsoft.com/office/drawing/2014/main" id="{2277AF87-61CF-22FA-33DD-ECB473C42546}"/>
              </a:ext>
            </a:extLst>
          </p:cNvPr>
          <p:cNvSpPr txBox="1"/>
          <p:nvPr/>
        </p:nvSpPr>
        <p:spPr>
          <a:xfrm>
            <a:off x="8940800" y="3404344"/>
            <a:ext cx="2870200" cy="123111"/>
          </a:xfrm>
          <a:prstGeom prst="rect">
            <a:avLst/>
          </a:prstGeom>
          <a:noFill/>
        </p:spPr>
        <p:txBody>
          <a:bodyPr vert="horz" wrap="square" lIns="0" tIns="0" rIns="0" bIns="0" rtlCol="0" anchor="ctr">
            <a:spAutoFit/>
          </a:bodyPr>
          <a:lstStyle/>
          <a:p>
            <a:r>
              <a:rPr lang="en-IN" sz="800">
                <a:solidFill>
                  <a:srgbClr val="78828C"/>
                </a:solidFill>
              </a:rPr>
              <a:t>illumination normalisation; external validation is future work</a:t>
            </a:r>
          </a:p>
        </p:txBody>
      </p:sp>
      <p:sp>
        <p:nvSpPr>
          <p:cNvPr id="41" name="Rectangle 40">
            <a:extLst>
              <a:ext uri="{FF2B5EF4-FFF2-40B4-BE49-F238E27FC236}">
                <a16:creationId xmlns:a16="http://schemas.microsoft.com/office/drawing/2014/main" id="{100DE6AF-4BAE-F9F1-9E48-B172D318D2A2}"/>
              </a:ext>
            </a:extLst>
          </p:cNvPr>
          <p:cNvSpPr/>
          <p:nvPr/>
        </p:nvSpPr>
        <p:spPr>
          <a:xfrm>
            <a:off x="6197600" y="3695700"/>
            <a:ext cx="76200" cy="317500"/>
          </a:xfrm>
          <a:prstGeom prst="rect">
            <a:avLst/>
          </a:prstGeom>
          <a:solidFill>
            <a:srgbClr val="C1272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800">
              <a:solidFill>
                <a:srgbClr val="FFFFFF"/>
              </a:solidFill>
              <a:latin typeface="Calibri" panose="020F0502020204030204" pitchFamily="34" charset="0"/>
            </a:endParaRPr>
          </a:p>
        </p:txBody>
      </p:sp>
      <p:sp>
        <p:nvSpPr>
          <p:cNvPr id="42" name="TextBox 41">
            <a:extLst>
              <a:ext uri="{FF2B5EF4-FFF2-40B4-BE49-F238E27FC236}">
                <a16:creationId xmlns:a16="http://schemas.microsoft.com/office/drawing/2014/main" id="{EE12E957-D7A4-C171-7242-23CE71D8F71C}"/>
              </a:ext>
            </a:extLst>
          </p:cNvPr>
          <p:cNvSpPr txBox="1"/>
          <p:nvPr/>
        </p:nvSpPr>
        <p:spPr>
          <a:xfrm>
            <a:off x="6350000" y="3768797"/>
            <a:ext cx="2540000" cy="130805"/>
          </a:xfrm>
          <a:prstGeom prst="rect">
            <a:avLst/>
          </a:prstGeom>
          <a:noFill/>
        </p:spPr>
        <p:txBody>
          <a:bodyPr vert="horz" wrap="square" lIns="0" tIns="0" rIns="0" bIns="0" rtlCol="0" anchor="ctr">
            <a:spAutoFit/>
          </a:bodyPr>
          <a:lstStyle/>
          <a:p>
            <a:r>
              <a:rPr lang="en-IN" sz="850" b="1">
                <a:solidFill>
                  <a:srgbClr val="0B2545"/>
                </a:solidFill>
              </a:rPr>
              <a:t>54 annotated training images</a:t>
            </a:r>
          </a:p>
        </p:txBody>
      </p:sp>
      <p:sp>
        <p:nvSpPr>
          <p:cNvPr id="43" name="TextBox 42">
            <a:extLst>
              <a:ext uri="{FF2B5EF4-FFF2-40B4-BE49-F238E27FC236}">
                <a16:creationId xmlns:a16="http://schemas.microsoft.com/office/drawing/2014/main" id="{DE4C480E-61F8-6563-0589-60AFB16A60A4}"/>
              </a:ext>
            </a:extLst>
          </p:cNvPr>
          <p:cNvSpPr txBox="1"/>
          <p:nvPr/>
        </p:nvSpPr>
        <p:spPr>
          <a:xfrm>
            <a:off x="8940800" y="3772644"/>
            <a:ext cx="2870200" cy="123111"/>
          </a:xfrm>
          <a:prstGeom prst="rect">
            <a:avLst/>
          </a:prstGeom>
          <a:noFill/>
        </p:spPr>
        <p:txBody>
          <a:bodyPr vert="horz" wrap="square" lIns="0" tIns="0" rIns="0" bIns="0" rtlCol="0" anchor="ctr">
            <a:spAutoFit/>
          </a:bodyPr>
          <a:lstStyle/>
          <a:p>
            <a:r>
              <a:rPr lang="en-US" sz="800">
                <a:solidFill>
                  <a:srgbClr val="78828C"/>
                </a:solidFill>
              </a:rPr>
              <a:t>the IDRiD benchmark's own limit — stated, not hidden</a:t>
            </a:r>
            <a:endParaRPr lang="en-IN" sz="800">
              <a:solidFill>
                <a:srgbClr val="78828C"/>
              </a:solidFill>
            </a:endParaRPr>
          </a:p>
        </p:txBody>
      </p:sp>
      <p:sp>
        <p:nvSpPr>
          <p:cNvPr id="44" name="TextBox 43">
            <a:extLst>
              <a:ext uri="{FF2B5EF4-FFF2-40B4-BE49-F238E27FC236}">
                <a16:creationId xmlns:a16="http://schemas.microsoft.com/office/drawing/2014/main" id="{19576933-38C1-AC41-09AF-9A80A2C143B0}"/>
              </a:ext>
            </a:extLst>
          </p:cNvPr>
          <p:cNvSpPr txBox="1"/>
          <p:nvPr/>
        </p:nvSpPr>
        <p:spPr>
          <a:xfrm>
            <a:off x="381000" y="4368800"/>
            <a:ext cx="5588000" cy="169277"/>
          </a:xfrm>
          <a:prstGeom prst="rect">
            <a:avLst/>
          </a:prstGeom>
          <a:noFill/>
        </p:spPr>
        <p:txBody>
          <a:bodyPr vert="horz" wrap="square" lIns="0" tIns="0" rIns="0" bIns="0" rtlCol="0" anchor="t">
            <a:spAutoFit/>
          </a:bodyPr>
          <a:lstStyle/>
          <a:p>
            <a:r>
              <a:rPr lang="en-IN" sz="1100" b="1">
                <a:solidFill>
                  <a:srgbClr val="0B2545"/>
                </a:solidFill>
              </a:rPr>
              <a:t>COST PER SCREENING</a:t>
            </a:r>
          </a:p>
        </p:txBody>
      </p:sp>
      <p:sp>
        <p:nvSpPr>
          <p:cNvPr id="45" name="Rectangle 44">
            <a:extLst>
              <a:ext uri="{FF2B5EF4-FFF2-40B4-BE49-F238E27FC236}">
                <a16:creationId xmlns:a16="http://schemas.microsoft.com/office/drawing/2014/main" id="{1C2A48CE-11C1-901F-ECC4-1B9454B5F474}"/>
              </a:ext>
            </a:extLst>
          </p:cNvPr>
          <p:cNvSpPr/>
          <p:nvPr/>
        </p:nvSpPr>
        <p:spPr>
          <a:xfrm>
            <a:off x="381000" y="4622800"/>
            <a:ext cx="1778000" cy="736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46" name="TextBox 45">
            <a:extLst>
              <a:ext uri="{FF2B5EF4-FFF2-40B4-BE49-F238E27FC236}">
                <a16:creationId xmlns:a16="http://schemas.microsoft.com/office/drawing/2014/main" id="{B4864F8A-8C08-A563-82AC-A8109A59B235}"/>
              </a:ext>
            </a:extLst>
          </p:cNvPr>
          <p:cNvSpPr txBox="1"/>
          <p:nvPr/>
        </p:nvSpPr>
        <p:spPr>
          <a:xfrm>
            <a:off x="381000" y="4673600"/>
            <a:ext cx="1778000" cy="261610"/>
          </a:xfrm>
          <a:prstGeom prst="rect">
            <a:avLst/>
          </a:prstGeom>
          <a:noFill/>
        </p:spPr>
        <p:txBody>
          <a:bodyPr vert="horz" wrap="square" lIns="0" tIns="0" rIns="0" bIns="0" rtlCol="0" anchor="t">
            <a:spAutoFit/>
          </a:bodyPr>
          <a:lstStyle/>
          <a:p>
            <a:pPr algn="ctr"/>
            <a:r>
              <a:rPr lang="en-IN" sz="1700" b="1">
                <a:solidFill>
                  <a:srgbClr val="0E7C86"/>
                </a:solidFill>
              </a:rPr>
              <a:t>₹6–12</a:t>
            </a:r>
          </a:p>
        </p:txBody>
      </p:sp>
      <p:sp>
        <p:nvSpPr>
          <p:cNvPr id="47" name="TextBox 46">
            <a:extLst>
              <a:ext uri="{FF2B5EF4-FFF2-40B4-BE49-F238E27FC236}">
                <a16:creationId xmlns:a16="http://schemas.microsoft.com/office/drawing/2014/main" id="{B484DA21-935B-6E81-C416-AE6643F6906D}"/>
              </a:ext>
            </a:extLst>
          </p:cNvPr>
          <p:cNvSpPr txBox="1"/>
          <p:nvPr/>
        </p:nvSpPr>
        <p:spPr>
          <a:xfrm>
            <a:off x="381000" y="5003800"/>
            <a:ext cx="1778000" cy="115416"/>
          </a:xfrm>
          <a:prstGeom prst="rect">
            <a:avLst/>
          </a:prstGeom>
          <a:noFill/>
        </p:spPr>
        <p:txBody>
          <a:bodyPr vert="horz" wrap="square" lIns="0" tIns="0" rIns="0" bIns="0" rtlCol="0" anchor="t">
            <a:spAutoFit/>
          </a:bodyPr>
          <a:lstStyle/>
          <a:p>
            <a:pPr algn="ctr"/>
            <a:r>
              <a:rPr lang="en-IN" sz="750">
                <a:solidFill>
                  <a:srgbClr val="0B2545"/>
                </a:solidFill>
              </a:rPr>
              <a:t>per screening, camera amortised</a:t>
            </a:r>
          </a:p>
        </p:txBody>
      </p:sp>
      <p:sp>
        <p:nvSpPr>
          <p:cNvPr id="48" name="Rectangle 47">
            <a:extLst>
              <a:ext uri="{FF2B5EF4-FFF2-40B4-BE49-F238E27FC236}">
                <a16:creationId xmlns:a16="http://schemas.microsoft.com/office/drawing/2014/main" id="{E34754BC-B5B7-AC7E-4A18-B08716238892}"/>
              </a:ext>
            </a:extLst>
          </p:cNvPr>
          <p:cNvSpPr/>
          <p:nvPr/>
        </p:nvSpPr>
        <p:spPr>
          <a:xfrm>
            <a:off x="2260600" y="4622800"/>
            <a:ext cx="1778000" cy="736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49" name="TextBox 48">
            <a:extLst>
              <a:ext uri="{FF2B5EF4-FFF2-40B4-BE49-F238E27FC236}">
                <a16:creationId xmlns:a16="http://schemas.microsoft.com/office/drawing/2014/main" id="{FD0CE313-7CA1-4AF6-5F18-CF8ADBEBA4E1}"/>
              </a:ext>
            </a:extLst>
          </p:cNvPr>
          <p:cNvSpPr txBox="1"/>
          <p:nvPr/>
        </p:nvSpPr>
        <p:spPr>
          <a:xfrm>
            <a:off x="2260600" y="4673600"/>
            <a:ext cx="1778000" cy="261610"/>
          </a:xfrm>
          <a:prstGeom prst="rect">
            <a:avLst/>
          </a:prstGeom>
          <a:noFill/>
        </p:spPr>
        <p:txBody>
          <a:bodyPr vert="horz" wrap="square" lIns="0" tIns="0" rIns="0" bIns="0" rtlCol="0" anchor="t">
            <a:spAutoFit/>
          </a:bodyPr>
          <a:lstStyle/>
          <a:p>
            <a:pPr algn="ctr"/>
            <a:r>
              <a:rPr lang="en-IN" sz="1700" b="1">
                <a:solidFill>
                  <a:srgbClr val="0E7C86"/>
                </a:solidFill>
              </a:rPr>
              <a:t>₹0</a:t>
            </a:r>
          </a:p>
        </p:txBody>
      </p:sp>
      <p:sp>
        <p:nvSpPr>
          <p:cNvPr id="50" name="TextBox 49">
            <a:extLst>
              <a:ext uri="{FF2B5EF4-FFF2-40B4-BE49-F238E27FC236}">
                <a16:creationId xmlns:a16="http://schemas.microsoft.com/office/drawing/2014/main" id="{F63FF2C5-BB40-D679-A707-2AEACFE81CC9}"/>
              </a:ext>
            </a:extLst>
          </p:cNvPr>
          <p:cNvSpPr txBox="1"/>
          <p:nvPr/>
        </p:nvSpPr>
        <p:spPr>
          <a:xfrm>
            <a:off x="2260600" y="5003800"/>
            <a:ext cx="1778000" cy="115416"/>
          </a:xfrm>
          <a:prstGeom prst="rect">
            <a:avLst/>
          </a:prstGeom>
          <a:noFill/>
        </p:spPr>
        <p:txBody>
          <a:bodyPr vert="horz" wrap="square" lIns="0" tIns="0" rIns="0" bIns="0" rtlCol="0" anchor="t">
            <a:spAutoFit/>
          </a:bodyPr>
          <a:lstStyle/>
          <a:p>
            <a:pPr algn="ctr"/>
            <a:r>
              <a:rPr lang="en-IN" sz="750">
                <a:solidFill>
                  <a:srgbClr val="0B2545"/>
                </a:solidFill>
              </a:rPr>
              <a:t>software licence (academic)</a:t>
            </a:r>
          </a:p>
        </p:txBody>
      </p:sp>
      <p:sp>
        <p:nvSpPr>
          <p:cNvPr id="51" name="Rectangle 50">
            <a:extLst>
              <a:ext uri="{FF2B5EF4-FFF2-40B4-BE49-F238E27FC236}">
                <a16:creationId xmlns:a16="http://schemas.microsoft.com/office/drawing/2014/main" id="{636C15FC-EF80-1892-AECC-94E287C90DEC}"/>
              </a:ext>
            </a:extLst>
          </p:cNvPr>
          <p:cNvSpPr/>
          <p:nvPr/>
        </p:nvSpPr>
        <p:spPr>
          <a:xfrm>
            <a:off x="4140200" y="4622800"/>
            <a:ext cx="1778000" cy="7366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52" name="TextBox 51">
            <a:extLst>
              <a:ext uri="{FF2B5EF4-FFF2-40B4-BE49-F238E27FC236}">
                <a16:creationId xmlns:a16="http://schemas.microsoft.com/office/drawing/2014/main" id="{1703FBAC-DDB2-18DC-30E8-A46DD3337841}"/>
              </a:ext>
            </a:extLst>
          </p:cNvPr>
          <p:cNvSpPr txBox="1"/>
          <p:nvPr/>
        </p:nvSpPr>
        <p:spPr>
          <a:xfrm>
            <a:off x="4140200" y="4673600"/>
            <a:ext cx="1778000" cy="261610"/>
          </a:xfrm>
          <a:prstGeom prst="rect">
            <a:avLst/>
          </a:prstGeom>
          <a:noFill/>
        </p:spPr>
        <p:txBody>
          <a:bodyPr vert="horz" wrap="square" lIns="0" tIns="0" rIns="0" bIns="0" rtlCol="0" anchor="t">
            <a:spAutoFit/>
          </a:bodyPr>
          <a:lstStyle/>
          <a:p>
            <a:pPr algn="ctr"/>
            <a:r>
              <a:rPr lang="en-IN" sz="1700" b="1">
                <a:solidFill>
                  <a:srgbClr val="0E7C86"/>
                </a:solidFill>
              </a:rPr>
              <a:t>₹500–1,500</a:t>
            </a:r>
          </a:p>
        </p:txBody>
      </p:sp>
      <p:sp>
        <p:nvSpPr>
          <p:cNvPr id="53" name="TextBox 52">
            <a:extLst>
              <a:ext uri="{FF2B5EF4-FFF2-40B4-BE49-F238E27FC236}">
                <a16:creationId xmlns:a16="http://schemas.microsoft.com/office/drawing/2014/main" id="{8448E422-A7D5-BDE9-CD8B-01B4FCEB5AFA}"/>
              </a:ext>
            </a:extLst>
          </p:cNvPr>
          <p:cNvSpPr txBox="1"/>
          <p:nvPr/>
        </p:nvSpPr>
        <p:spPr>
          <a:xfrm>
            <a:off x="4140200" y="5003800"/>
            <a:ext cx="1778000" cy="115416"/>
          </a:xfrm>
          <a:prstGeom prst="rect">
            <a:avLst/>
          </a:prstGeom>
          <a:noFill/>
        </p:spPr>
        <p:txBody>
          <a:bodyPr vert="horz" wrap="square" lIns="0" tIns="0" rIns="0" bIns="0" rtlCol="0" anchor="t">
            <a:spAutoFit/>
          </a:bodyPr>
          <a:lstStyle/>
          <a:p>
            <a:pPr algn="ctr"/>
            <a:r>
              <a:rPr lang="en-IN" sz="750">
                <a:solidFill>
                  <a:srgbClr val="0B2545"/>
                </a:solidFill>
              </a:rPr>
              <a:t>private consult avoided</a:t>
            </a:r>
          </a:p>
        </p:txBody>
      </p:sp>
      <p:sp>
        <p:nvSpPr>
          <p:cNvPr id="54" name="TextBox 53">
            <a:extLst>
              <a:ext uri="{FF2B5EF4-FFF2-40B4-BE49-F238E27FC236}">
                <a16:creationId xmlns:a16="http://schemas.microsoft.com/office/drawing/2014/main" id="{2361B67D-8823-1DF2-CD8D-B3636980881A}"/>
              </a:ext>
            </a:extLst>
          </p:cNvPr>
          <p:cNvSpPr txBox="1"/>
          <p:nvPr/>
        </p:nvSpPr>
        <p:spPr>
          <a:xfrm>
            <a:off x="6197600" y="4368800"/>
            <a:ext cx="5613400" cy="169277"/>
          </a:xfrm>
          <a:prstGeom prst="rect">
            <a:avLst/>
          </a:prstGeom>
          <a:noFill/>
        </p:spPr>
        <p:txBody>
          <a:bodyPr vert="horz" wrap="square" lIns="0" tIns="0" rIns="0" bIns="0" rtlCol="0" anchor="t">
            <a:spAutoFit/>
          </a:bodyPr>
          <a:lstStyle/>
          <a:p>
            <a:r>
              <a:rPr lang="en-IN" sz="1100" b="1">
                <a:solidFill>
                  <a:srgbClr val="0B2545"/>
                </a:solidFill>
              </a:rPr>
              <a:t>DEPLOYMENT READINESS</a:t>
            </a:r>
          </a:p>
        </p:txBody>
      </p:sp>
      <p:sp>
        <p:nvSpPr>
          <p:cNvPr id="55" name="Arrow: Chevron 54">
            <a:extLst>
              <a:ext uri="{FF2B5EF4-FFF2-40B4-BE49-F238E27FC236}">
                <a16:creationId xmlns:a16="http://schemas.microsoft.com/office/drawing/2014/main" id="{E2178CEA-2682-9EB2-FEC0-59DD8F39E5CE}"/>
              </a:ext>
            </a:extLst>
          </p:cNvPr>
          <p:cNvSpPr/>
          <p:nvPr/>
        </p:nvSpPr>
        <p:spPr>
          <a:xfrm>
            <a:off x="6197600" y="4622800"/>
            <a:ext cx="1320800" cy="533400"/>
          </a:xfrm>
          <a:prstGeom prst="chevron">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800" b="1">
                <a:solidFill>
                  <a:srgbClr val="FFFFFF"/>
                </a:solidFill>
                <a:latin typeface="Calibri" panose="020F0502020204030204" pitchFamily="34" charset="0"/>
              </a:rPr>
              <a:t>Prototype</a:t>
            </a:r>
          </a:p>
          <a:p>
            <a:pPr algn="ctr"/>
            <a:r>
              <a:rPr lang="en-IN" sz="800" b="1">
                <a:solidFill>
                  <a:srgbClr val="FFFFFF"/>
                </a:solidFill>
                <a:latin typeface="Calibri" panose="020F0502020204030204" pitchFamily="34" charset="0"/>
              </a:rPr>
              <a:t>(now)</a:t>
            </a:r>
          </a:p>
        </p:txBody>
      </p:sp>
      <p:sp>
        <p:nvSpPr>
          <p:cNvPr id="56" name="Arrow: Chevron 55">
            <a:extLst>
              <a:ext uri="{FF2B5EF4-FFF2-40B4-BE49-F238E27FC236}">
                <a16:creationId xmlns:a16="http://schemas.microsoft.com/office/drawing/2014/main" id="{D9A5ADA6-13FA-CF60-F183-AD594564CEEA}"/>
              </a:ext>
            </a:extLst>
          </p:cNvPr>
          <p:cNvSpPr/>
          <p:nvPr/>
        </p:nvSpPr>
        <p:spPr>
          <a:xfrm>
            <a:off x="7620000" y="4622800"/>
            <a:ext cx="1320800" cy="533400"/>
          </a:xfrm>
          <a:prstGeom prst="chevron">
            <a:avLst/>
          </a:prstGeom>
          <a:solidFill>
            <a:srgbClr val="186E7C"/>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800" b="1">
                <a:solidFill>
                  <a:srgbClr val="FFFFFF"/>
                </a:solidFill>
                <a:latin typeface="Calibri" panose="020F0502020204030204" pitchFamily="34" charset="0"/>
              </a:rPr>
              <a:t>PHC pilot</a:t>
            </a:r>
          </a:p>
          <a:p>
            <a:pPr algn="ctr"/>
            <a:r>
              <a:rPr lang="en-IN" sz="800" b="1">
                <a:solidFill>
                  <a:srgbClr val="FFFFFF"/>
                </a:solidFill>
                <a:latin typeface="Calibri" panose="020F0502020204030204" pitchFamily="34" charset="0"/>
              </a:rPr>
              <a:t>2 districts</a:t>
            </a:r>
          </a:p>
        </p:txBody>
      </p:sp>
      <p:sp>
        <p:nvSpPr>
          <p:cNvPr id="57" name="Arrow: Chevron 56">
            <a:extLst>
              <a:ext uri="{FF2B5EF4-FFF2-40B4-BE49-F238E27FC236}">
                <a16:creationId xmlns:a16="http://schemas.microsoft.com/office/drawing/2014/main" id="{83E83584-C550-D1EC-1F29-E662EAE80074}"/>
              </a:ext>
            </a:extLst>
          </p:cNvPr>
          <p:cNvSpPr/>
          <p:nvPr/>
        </p:nvSpPr>
        <p:spPr>
          <a:xfrm>
            <a:off x="9042400" y="4622800"/>
            <a:ext cx="1320800" cy="533400"/>
          </a:xfrm>
          <a:prstGeom prst="chevron">
            <a:avLst/>
          </a:prstGeom>
          <a:solidFill>
            <a:srgbClr val="22607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fr-FR" sz="800" b="1">
                <a:solidFill>
                  <a:srgbClr val="FFFFFF"/>
                </a:solidFill>
                <a:latin typeface="Calibri" panose="020F0502020204030204" pitchFamily="34" charset="0"/>
              </a:rPr>
              <a:t>Clinical validation</a:t>
            </a:r>
          </a:p>
          <a:p>
            <a:pPr algn="ctr"/>
            <a:r>
              <a:rPr lang="fr-FR" sz="800" b="1">
                <a:solidFill>
                  <a:srgbClr val="FFFFFF"/>
                </a:solidFill>
                <a:latin typeface="Calibri" panose="020F0502020204030204" pitchFamily="34" charset="0"/>
              </a:rPr>
              <a:t>vs 3 graders</a:t>
            </a:r>
            <a:endParaRPr lang="en-IN" sz="800" b="1">
              <a:solidFill>
                <a:srgbClr val="FFFFFF"/>
              </a:solidFill>
              <a:latin typeface="Calibri" panose="020F0502020204030204" pitchFamily="34" charset="0"/>
            </a:endParaRPr>
          </a:p>
        </p:txBody>
      </p:sp>
      <p:sp>
        <p:nvSpPr>
          <p:cNvPr id="58" name="Arrow: Chevron 57">
            <a:extLst>
              <a:ext uri="{FF2B5EF4-FFF2-40B4-BE49-F238E27FC236}">
                <a16:creationId xmlns:a16="http://schemas.microsoft.com/office/drawing/2014/main" id="{C5113430-4D4D-852C-C33F-47E7E83E6332}"/>
              </a:ext>
            </a:extLst>
          </p:cNvPr>
          <p:cNvSpPr/>
          <p:nvPr/>
        </p:nvSpPr>
        <p:spPr>
          <a:xfrm>
            <a:off x="10464800" y="4622800"/>
            <a:ext cx="1320800" cy="533400"/>
          </a:xfrm>
          <a:prstGeom prst="chevron">
            <a:avLst/>
          </a:prstGeom>
          <a:solidFill>
            <a:srgbClr val="2C526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r>
              <a:rPr lang="en-IN" sz="800" b="1">
                <a:solidFill>
                  <a:srgbClr val="FFFFFF"/>
                </a:solidFill>
                <a:latin typeface="Calibri" panose="020F0502020204030204" pitchFamily="34" charset="0"/>
              </a:rPr>
              <a:t>District rollout</a:t>
            </a:r>
          </a:p>
          <a:p>
            <a:pPr algn="ctr"/>
            <a:r>
              <a:rPr lang="en-IN" sz="800" b="1">
                <a:solidFill>
                  <a:srgbClr val="FFFFFF"/>
                </a:solidFill>
                <a:latin typeface="Calibri" panose="020F0502020204030204" pitchFamily="34" charset="0"/>
              </a:rPr>
              <a:t>100k/yr</a:t>
            </a:r>
          </a:p>
        </p:txBody>
      </p:sp>
      <p:sp>
        <p:nvSpPr>
          <p:cNvPr id="59" name="TextBox 58">
            <a:extLst>
              <a:ext uri="{FF2B5EF4-FFF2-40B4-BE49-F238E27FC236}">
                <a16:creationId xmlns:a16="http://schemas.microsoft.com/office/drawing/2014/main" id="{A90856F7-BD66-D3A3-F9D4-DB5E550CD7D2}"/>
              </a:ext>
            </a:extLst>
          </p:cNvPr>
          <p:cNvSpPr txBox="1"/>
          <p:nvPr/>
        </p:nvSpPr>
        <p:spPr>
          <a:xfrm>
            <a:off x="6197600" y="5207000"/>
            <a:ext cx="5613400" cy="138499"/>
          </a:xfrm>
          <a:prstGeom prst="rect">
            <a:avLst/>
          </a:prstGeom>
          <a:noFill/>
        </p:spPr>
        <p:txBody>
          <a:bodyPr vert="horz" wrap="square" lIns="0" tIns="0" rIns="0" bIns="0" rtlCol="0" anchor="t">
            <a:spAutoFit/>
          </a:bodyPr>
          <a:lstStyle/>
          <a:p>
            <a:r>
              <a:rPr lang="en-US" sz="900" i="1">
                <a:solidFill>
                  <a:srgbClr val="78828C"/>
                </a:solidFill>
              </a:rPr>
              <a:t>Prototype stage is where this build actually is today.</a:t>
            </a:r>
            <a:endParaRPr lang="en-IN" sz="900" i="1">
              <a:solidFill>
                <a:srgbClr val="78828C"/>
              </a:solidFill>
            </a:endParaRPr>
          </a:p>
        </p:txBody>
      </p:sp>
      <p:sp>
        <p:nvSpPr>
          <p:cNvPr id="60" name="TextBox 59">
            <a:extLst>
              <a:ext uri="{FF2B5EF4-FFF2-40B4-BE49-F238E27FC236}">
                <a16:creationId xmlns:a16="http://schemas.microsoft.com/office/drawing/2014/main" id="{FB255C6C-43F3-5367-C2D5-C9D27A209DD7}"/>
              </a:ext>
            </a:extLst>
          </p:cNvPr>
          <p:cNvSpPr txBox="1"/>
          <p:nvPr/>
        </p:nvSpPr>
        <p:spPr>
          <a:xfrm>
            <a:off x="381000" y="5486400"/>
            <a:ext cx="11430000" cy="276999"/>
          </a:xfrm>
          <a:prstGeom prst="rect">
            <a:avLst/>
          </a:prstGeom>
          <a:noFill/>
        </p:spPr>
        <p:txBody>
          <a:bodyPr vert="horz" wrap="square" lIns="0" tIns="0" rIns="0" bIns="0" rtlCol="0" anchor="t">
            <a:spAutoFit/>
          </a:bodyPr>
          <a:lstStyle/>
          <a:p>
            <a:r>
              <a:rPr lang="en-US" sz="900">
                <a:solidFill>
                  <a:srgbClr val="0B2545"/>
                </a:solidFill>
              </a:rPr>
              <a:t>MATLAB R2026a trial (expires 4 Oct 2026): Image Processing, Computer Vision, Deep Learning, Statistics &amp; ML, Parallel Computing and Simulink, all verified installed. SimEvents is licensed but not installed on this machine, so the district model is built from core Simulink blocks. Trained on one RTX 4060 laptop GPU — lesion net 63 min, grader 11 min.</a:t>
            </a:r>
            <a:endParaRPr lang="en-IN" sz="900">
              <a:solidFill>
                <a:srgbClr val="0B2545"/>
              </a:solidFill>
            </a:endParaRP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381000" y="1168400"/>
            <a:ext cx="9271000" cy="223138"/>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850" i="1" u="none" strike="noStrike" kern="1200" cap="none" spc="0" normalizeH="0" baseline="0" noProof="0">
                <a:ln>
                  <a:noFill/>
                </a:ln>
                <a:solidFill>
                  <a:srgbClr val="78828C"/>
                </a:solidFill>
                <a:effectLst/>
                <a:uLnTx/>
                <a:uFillTx/>
                <a:ea typeface="ＭＳ Ｐゴシック" pitchFamily="1" charset="-128"/>
                <a:cs typeface="Arial" pitchFamily="34" charset="0"/>
              </a:rPr>
              <a:t>Potential impact on the target audience  ·  Benefits of the solution (social, economic, environmental, etc.)</a:t>
            </a:r>
            <a:endParaRPr lang="en-US" sz="850" i="1" dirty="0">
              <a:solidFill>
                <a:srgbClr val="78828C"/>
              </a:solidFill>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883653A3-C4F3-D986-D389-63EF8C21DB6E}"/>
              </a:ext>
            </a:extLst>
          </p:cNvPr>
          <p:cNvSpPr txBox="1"/>
          <p:nvPr/>
        </p:nvSpPr>
        <p:spPr>
          <a:xfrm>
            <a:off x="381000" y="1574800"/>
            <a:ext cx="5080000" cy="169277"/>
          </a:xfrm>
          <a:prstGeom prst="rect">
            <a:avLst/>
          </a:prstGeom>
          <a:noFill/>
        </p:spPr>
        <p:txBody>
          <a:bodyPr vert="horz" wrap="square" lIns="0" tIns="0" rIns="0" bIns="0" rtlCol="0" anchor="t">
            <a:spAutoFit/>
          </a:bodyPr>
          <a:lstStyle/>
          <a:p>
            <a:r>
              <a:rPr lang="en-US" sz="1100" b="1">
                <a:solidFill>
                  <a:srgbClr val="0B2545"/>
                </a:solidFill>
              </a:rPr>
              <a:t>WHY SCREENING, NOT TREATMENT, IS THE GAP</a:t>
            </a:r>
            <a:endParaRPr lang="en-IN" sz="1100" b="1">
              <a:solidFill>
                <a:srgbClr val="0B2545"/>
              </a:solidFill>
            </a:endParaRPr>
          </a:p>
        </p:txBody>
      </p:sp>
      <p:sp>
        <p:nvSpPr>
          <p:cNvPr id="3" name="Rectangle 2">
            <a:extLst>
              <a:ext uri="{FF2B5EF4-FFF2-40B4-BE49-F238E27FC236}">
                <a16:creationId xmlns:a16="http://schemas.microsoft.com/office/drawing/2014/main" id="{887D6F43-2129-556A-E11F-88BD34119677}"/>
              </a:ext>
            </a:extLst>
          </p:cNvPr>
          <p:cNvSpPr/>
          <p:nvPr/>
        </p:nvSpPr>
        <p:spPr>
          <a:xfrm>
            <a:off x="381000" y="1879600"/>
            <a:ext cx="5080000" cy="508000"/>
          </a:xfrm>
          <a:prstGeom prst="rect">
            <a:avLst/>
          </a:prstGeom>
          <a:solidFill>
            <a:srgbClr val="0E7C86"/>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endParaRPr lang="en-IN" sz="900">
              <a:solidFill>
                <a:srgbClr val="FFFFFF"/>
              </a:solidFill>
              <a:latin typeface="Calibri" panose="020F0502020204030204" pitchFamily="34" charset="0"/>
            </a:endParaRPr>
          </a:p>
        </p:txBody>
      </p:sp>
      <p:sp>
        <p:nvSpPr>
          <p:cNvPr id="4" name="TextBox 3">
            <a:extLst>
              <a:ext uri="{FF2B5EF4-FFF2-40B4-BE49-F238E27FC236}">
                <a16:creationId xmlns:a16="http://schemas.microsoft.com/office/drawing/2014/main" id="{554B1903-40C0-7AD9-F0FE-D93259690B2F}"/>
              </a:ext>
            </a:extLst>
          </p:cNvPr>
          <p:cNvSpPr txBox="1"/>
          <p:nvPr/>
        </p:nvSpPr>
        <p:spPr>
          <a:xfrm>
            <a:off x="482600" y="1917700"/>
            <a:ext cx="4876800" cy="215444"/>
          </a:xfrm>
          <a:prstGeom prst="rect">
            <a:avLst/>
          </a:prstGeom>
          <a:noFill/>
        </p:spPr>
        <p:txBody>
          <a:bodyPr vert="horz" wrap="square" lIns="0" tIns="0" rIns="0" bIns="0" rtlCol="0" anchor="t">
            <a:spAutoFit/>
          </a:bodyPr>
          <a:lstStyle/>
          <a:p>
            <a:pPr algn="ctr"/>
            <a:r>
              <a:rPr lang="en-IN" sz="1400" b="1">
                <a:solidFill>
                  <a:srgbClr val="FFFFFF"/>
                </a:solidFill>
              </a:rPr>
              <a:t>101 million</a:t>
            </a:r>
          </a:p>
        </p:txBody>
      </p:sp>
      <p:sp>
        <p:nvSpPr>
          <p:cNvPr id="5" name="TextBox 4">
            <a:extLst>
              <a:ext uri="{FF2B5EF4-FFF2-40B4-BE49-F238E27FC236}">
                <a16:creationId xmlns:a16="http://schemas.microsoft.com/office/drawing/2014/main" id="{6EA85FEC-D92F-98BE-1B5D-A72C0D06828B}"/>
              </a:ext>
            </a:extLst>
          </p:cNvPr>
          <p:cNvSpPr txBox="1"/>
          <p:nvPr/>
        </p:nvSpPr>
        <p:spPr>
          <a:xfrm>
            <a:off x="482600" y="2146300"/>
            <a:ext cx="4876800" cy="115416"/>
          </a:xfrm>
          <a:prstGeom prst="rect">
            <a:avLst/>
          </a:prstGeom>
          <a:noFill/>
        </p:spPr>
        <p:txBody>
          <a:bodyPr vert="horz" wrap="square" lIns="0" tIns="0" rIns="0" bIns="0" rtlCol="0" anchor="t">
            <a:spAutoFit/>
          </a:bodyPr>
          <a:lstStyle/>
          <a:p>
            <a:pPr algn="ctr"/>
            <a:r>
              <a:rPr lang="en-US" sz="750">
                <a:solidFill>
                  <a:srgbClr val="FFFFFF"/>
                </a:solidFill>
              </a:rPr>
              <a:t>adults with diabetes in India (ICMR-INDIAB, Lancet 2023)</a:t>
            </a:r>
            <a:endParaRPr lang="en-IN" sz="750">
              <a:solidFill>
                <a:srgbClr val="FFFFFF"/>
              </a:solidFill>
            </a:endParaRPr>
          </a:p>
        </p:txBody>
      </p:sp>
      <p:sp>
        <p:nvSpPr>
          <p:cNvPr id="8" name="Rectangle 7">
            <a:extLst>
              <a:ext uri="{FF2B5EF4-FFF2-40B4-BE49-F238E27FC236}">
                <a16:creationId xmlns:a16="http://schemas.microsoft.com/office/drawing/2014/main" id="{B22045A9-DBDC-DCFE-95E8-017C6D801387}"/>
              </a:ext>
            </a:extLst>
          </p:cNvPr>
          <p:cNvSpPr/>
          <p:nvPr/>
        </p:nvSpPr>
        <p:spPr>
          <a:xfrm>
            <a:off x="825500" y="2463800"/>
            <a:ext cx="4191000" cy="508000"/>
          </a:xfrm>
          <a:prstGeom prst="rect">
            <a:avLst/>
          </a:prstGeom>
          <a:solidFill>
            <a:srgbClr val="3B6A7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endParaRPr lang="en-IN" sz="900">
              <a:solidFill>
                <a:srgbClr val="FFFFFF"/>
              </a:solidFill>
              <a:latin typeface="Calibri" panose="020F0502020204030204" pitchFamily="34" charset="0"/>
            </a:endParaRPr>
          </a:p>
        </p:txBody>
      </p:sp>
      <p:sp>
        <p:nvSpPr>
          <p:cNvPr id="9" name="TextBox 8">
            <a:extLst>
              <a:ext uri="{FF2B5EF4-FFF2-40B4-BE49-F238E27FC236}">
                <a16:creationId xmlns:a16="http://schemas.microsoft.com/office/drawing/2014/main" id="{21660CEA-D7F1-E66F-D0A0-3E65F37CD386}"/>
              </a:ext>
            </a:extLst>
          </p:cNvPr>
          <p:cNvSpPr txBox="1"/>
          <p:nvPr/>
        </p:nvSpPr>
        <p:spPr>
          <a:xfrm>
            <a:off x="927100" y="2501900"/>
            <a:ext cx="3987800" cy="215444"/>
          </a:xfrm>
          <a:prstGeom prst="rect">
            <a:avLst/>
          </a:prstGeom>
          <a:noFill/>
        </p:spPr>
        <p:txBody>
          <a:bodyPr vert="horz" wrap="square" lIns="0" tIns="0" rIns="0" bIns="0" rtlCol="0" anchor="t">
            <a:spAutoFit/>
          </a:bodyPr>
          <a:lstStyle/>
          <a:p>
            <a:pPr algn="ctr"/>
            <a:r>
              <a:rPr lang="en-IN" sz="1400" b="1">
                <a:solidFill>
                  <a:srgbClr val="FFFFFF"/>
                </a:solidFill>
              </a:rPr>
              <a:t>~17 million</a:t>
            </a:r>
          </a:p>
        </p:txBody>
      </p:sp>
      <p:sp>
        <p:nvSpPr>
          <p:cNvPr id="13" name="TextBox 12">
            <a:extLst>
              <a:ext uri="{FF2B5EF4-FFF2-40B4-BE49-F238E27FC236}">
                <a16:creationId xmlns:a16="http://schemas.microsoft.com/office/drawing/2014/main" id="{27CCEA2A-1BA7-EC14-15A6-1BCD39AA9932}"/>
              </a:ext>
            </a:extLst>
          </p:cNvPr>
          <p:cNvSpPr txBox="1"/>
          <p:nvPr/>
        </p:nvSpPr>
        <p:spPr>
          <a:xfrm>
            <a:off x="927100" y="2730500"/>
            <a:ext cx="3987800" cy="115416"/>
          </a:xfrm>
          <a:prstGeom prst="rect">
            <a:avLst/>
          </a:prstGeom>
          <a:noFill/>
        </p:spPr>
        <p:txBody>
          <a:bodyPr vert="horz" wrap="square" lIns="0" tIns="0" rIns="0" bIns="0" rtlCol="0" anchor="t">
            <a:spAutoFit/>
          </a:bodyPr>
          <a:lstStyle/>
          <a:p>
            <a:pPr algn="ctr"/>
            <a:r>
              <a:rPr lang="en-US" sz="750">
                <a:solidFill>
                  <a:srgbClr val="FFFFFF"/>
                </a:solidFill>
              </a:rPr>
              <a:t>have diabetic retinopathy (16.9% prevalence)</a:t>
            </a:r>
            <a:endParaRPr lang="en-IN" sz="750">
              <a:solidFill>
                <a:srgbClr val="FFFFFF"/>
              </a:solidFill>
            </a:endParaRPr>
          </a:p>
        </p:txBody>
      </p:sp>
      <p:sp>
        <p:nvSpPr>
          <p:cNvPr id="14" name="Rectangle 13">
            <a:extLst>
              <a:ext uri="{FF2B5EF4-FFF2-40B4-BE49-F238E27FC236}">
                <a16:creationId xmlns:a16="http://schemas.microsoft.com/office/drawing/2014/main" id="{5366776F-0CE5-2326-C424-6A9BCE73BD47}"/>
              </a:ext>
            </a:extLst>
          </p:cNvPr>
          <p:cNvSpPr/>
          <p:nvPr/>
        </p:nvSpPr>
        <p:spPr>
          <a:xfrm>
            <a:off x="1333500" y="3048000"/>
            <a:ext cx="3175000" cy="508000"/>
          </a:xfrm>
          <a:prstGeom prst="rect">
            <a:avLst/>
          </a:prstGeom>
          <a:solidFill>
            <a:srgbClr val="68585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endParaRPr lang="en-IN" sz="900">
              <a:solidFill>
                <a:srgbClr val="FFFFFF"/>
              </a:solidFill>
              <a:latin typeface="Calibri" panose="020F0502020204030204" pitchFamily="34" charset="0"/>
            </a:endParaRPr>
          </a:p>
        </p:txBody>
      </p:sp>
      <p:sp>
        <p:nvSpPr>
          <p:cNvPr id="15" name="TextBox 14">
            <a:extLst>
              <a:ext uri="{FF2B5EF4-FFF2-40B4-BE49-F238E27FC236}">
                <a16:creationId xmlns:a16="http://schemas.microsoft.com/office/drawing/2014/main" id="{1F36AF88-85D9-1A84-AF09-AA6B17839B4B}"/>
              </a:ext>
            </a:extLst>
          </p:cNvPr>
          <p:cNvSpPr txBox="1"/>
          <p:nvPr/>
        </p:nvSpPr>
        <p:spPr>
          <a:xfrm>
            <a:off x="1435100" y="3086100"/>
            <a:ext cx="2971800" cy="215444"/>
          </a:xfrm>
          <a:prstGeom prst="rect">
            <a:avLst/>
          </a:prstGeom>
          <a:noFill/>
        </p:spPr>
        <p:txBody>
          <a:bodyPr vert="horz" wrap="square" lIns="0" tIns="0" rIns="0" bIns="0" rtlCol="0" anchor="t">
            <a:spAutoFit/>
          </a:bodyPr>
          <a:lstStyle/>
          <a:p>
            <a:pPr algn="ctr"/>
            <a:r>
              <a:rPr lang="en-IN" sz="1400" b="1">
                <a:solidFill>
                  <a:srgbClr val="FFFFFF"/>
                </a:solidFill>
              </a:rPr>
              <a:t>~4 million</a:t>
            </a:r>
          </a:p>
        </p:txBody>
      </p:sp>
      <p:sp>
        <p:nvSpPr>
          <p:cNvPr id="16" name="TextBox 15">
            <a:extLst>
              <a:ext uri="{FF2B5EF4-FFF2-40B4-BE49-F238E27FC236}">
                <a16:creationId xmlns:a16="http://schemas.microsoft.com/office/drawing/2014/main" id="{4AC7ABE5-0982-95EA-4AD4-85F75ADA79EA}"/>
              </a:ext>
            </a:extLst>
          </p:cNvPr>
          <p:cNvSpPr txBox="1"/>
          <p:nvPr/>
        </p:nvSpPr>
        <p:spPr>
          <a:xfrm>
            <a:off x="1435100" y="3314700"/>
            <a:ext cx="2971800" cy="115416"/>
          </a:xfrm>
          <a:prstGeom prst="rect">
            <a:avLst/>
          </a:prstGeom>
          <a:noFill/>
        </p:spPr>
        <p:txBody>
          <a:bodyPr vert="horz" wrap="square" lIns="0" tIns="0" rIns="0" bIns="0" rtlCol="0" anchor="t">
            <a:spAutoFit/>
          </a:bodyPr>
          <a:lstStyle/>
          <a:p>
            <a:pPr algn="ctr"/>
            <a:r>
              <a:rPr lang="en-US" sz="750">
                <a:solidFill>
                  <a:srgbClr val="FFFFFF"/>
                </a:solidFill>
              </a:rPr>
              <a:t>referable DR — need a specialist now</a:t>
            </a:r>
            <a:endParaRPr lang="en-IN" sz="750">
              <a:solidFill>
                <a:srgbClr val="FFFFFF"/>
              </a:solidFill>
            </a:endParaRPr>
          </a:p>
        </p:txBody>
      </p:sp>
      <p:sp>
        <p:nvSpPr>
          <p:cNvPr id="17" name="Rectangle 16">
            <a:extLst>
              <a:ext uri="{FF2B5EF4-FFF2-40B4-BE49-F238E27FC236}">
                <a16:creationId xmlns:a16="http://schemas.microsoft.com/office/drawing/2014/main" id="{EEF999D3-80CE-CEA3-2518-0E754DA90AFA}"/>
              </a:ext>
            </a:extLst>
          </p:cNvPr>
          <p:cNvSpPr/>
          <p:nvPr/>
        </p:nvSpPr>
        <p:spPr>
          <a:xfrm>
            <a:off x="1841500" y="3632200"/>
            <a:ext cx="2159000" cy="508000"/>
          </a:xfrm>
          <a:prstGeom prst="rect">
            <a:avLst/>
          </a:prstGeom>
          <a:solidFill>
            <a:srgbClr val="954644"/>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endParaRPr lang="en-IN" sz="900">
              <a:solidFill>
                <a:srgbClr val="FFFFFF"/>
              </a:solidFill>
              <a:latin typeface="Calibri" panose="020F0502020204030204" pitchFamily="34" charset="0"/>
            </a:endParaRPr>
          </a:p>
        </p:txBody>
      </p:sp>
      <p:sp>
        <p:nvSpPr>
          <p:cNvPr id="18" name="TextBox 17">
            <a:extLst>
              <a:ext uri="{FF2B5EF4-FFF2-40B4-BE49-F238E27FC236}">
                <a16:creationId xmlns:a16="http://schemas.microsoft.com/office/drawing/2014/main" id="{3752F334-DE40-BEEA-9F12-C2075C2F7B85}"/>
              </a:ext>
            </a:extLst>
          </p:cNvPr>
          <p:cNvSpPr txBox="1"/>
          <p:nvPr/>
        </p:nvSpPr>
        <p:spPr>
          <a:xfrm>
            <a:off x="1943100" y="3670300"/>
            <a:ext cx="1955800" cy="215444"/>
          </a:xfrm>
          <a:prstGeom prst="rect">
            <a:avLst/>
          </a:prstGeom>
          <a:noFill/>
        </p:spPr>
        <p:txBody>
          <a:bodyPr vert="horz" wrap="square" lIns="0" tIns="0" rIns="0" bIns="0" rtlCol="0" anchor="t">
            <a:spAutoFit/>
          </a:bodyPr>
          <a:lstStyle/>
          <a:p>
            <a:pPr algn="ctr"/>
            <a:r>
              <a:rPr lang="en-IN" sz="1400" b="1">
                <a:solidFill>
                  <a:srgbClr val="FFFFFF"/>
                </a:solidFill>
              </a:rPr>
              <a:t>1 : 100,000</a:t>
            </a:r>
          </a:p>
        </p:txBody>
      </p:sp>
      <p:sp>
        <p:nvSpPr>
          <p:cNvPr id="19" name="TextBox 18">
            <a:extLst>
              <a:ext uri="{FF2B5EF4-FFF2-40B4-BE49-F238E27FC236}">
                <a16:creationId xmlns:a16="http://schemas.microsoft.com/office/drawing/2014/main" id="{DC020655-C8AF-62F4-A204-1DE024E987D4}"/>
              </a:ext>
            </a:extLst>
          </p:cNvPr>
          <p:cNvSpPr txBox="1"/>
          <p:nvPr/>
        </p:nvSpPr>
        <p:spPr>
          <a:xfrm>
            <a:off x="1943100" y="3898900"/>
            <a:ext cx="1955800" cy="115416"/>
          </a:xfrm>
          <a:prstGeom prst="rect">
            <a:avLst/>
          </a:prstGeom>
          <a:noFill/>
        </p:spPr>
        <p:txBody>
          <a:bodyPr vert="horz" wrap="square" lIns="0" tIns="0" rIns="0" bIns="0" rtlCol="0" anchor="t">
            <a:spAutoFit/>
          </a:bodyPr>
          <a:lstStyle/>
          <a:p>
            <a:pPr algn="ctr"/>
            <a:r>
              <a:rPr lang="en-IN" sz="750">
                <a:solidFill>
                  <a:srgbClr val="FFFFFF"/>
                </a:solidFill>
              </a:rPr>
              <a:t>rural ophthalmologist-to-population ratio</a:t>
            </a:r>
          </a:p>
        </p:txBody>
      </p:sp>
      <p:sp>
        <p:nvSpPr>
          <p:cNvPr id="20" name="Rectangle 19">
            <a:extLst>
              <a:ext uri="{FF2B5EF4-FFF2-40B4-BE49-F238E27FC236}">
                <a16:creationId xmlns:a16="http://schemas.microsoft.com/office/drawing/2014/main" id="{6566E24E-8669-6A97-4818-1EAD2F2B3985}"/>
              </a:ext>
            </a:extLst>
          </p:cNvPr>
          <p:cNvSpPr/>
          <p:nvPr/>
        </p:nvSpPr>
        <p:spPr>
          <a:xfrm>
            <a:off x="2222500" y="4216400"/>
            <a:ext cx="1397000" cy="508000"/>
          </a:xfrm>
          <a:prstGeom prst="rect">
            <a:avLst/>
          </a:prstGeom>
          <a:solidFill>
            <a:srgbClr val="C2342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ctr"/>
          <a:lstStyle/>
          <a:p>
            <a:pPr algn="ctr"/>
            <a:endParaRPr lang="en-IN" sz="900">
              <a:solidFill>
                <a:srgbClr val="FFFFFF"/>
              </a:solidFill>
              <a:latin typeface="Calibri" panose="020F0502020204030204" pitchFamily="34" charset="0"/>
            </a:endParaRPr>
          </a:p>
        </p:txBody>
      </p:sp>
      <p:sp>
        <p:nvSpPr>
          <p:cNvPr id="21" name="TextBox 20">
            <a:extLst>
              <a:ext uri="{FF2B5EF4-FFF2-40B4-BE49-F238E27FC236}">
                <a16:creationId xmlns:a16="http://schemas.microsoft.com/office/drawing/2014/main" id="{D0DCB95E-A80B-74C3-35B4-AA0A2E205965}"/>
              </a:ext>
            </a:extLst>
          </p:cNvPr>
          <p:cNvSpPr txBox="1"/>
          <p:nvPr/>
        </p:nvSpPr>
        <p:spPr>
          <a:xfrm>
            <a:off x="2324100" y="4254500"/>
            <a:ext cx="1193800" cy="215444"/>
          </a:xfrm>
          <a:prstGeom prst="rect">
            <a:avLst/>
          </a:prstGeom>
          <a:noFill/>
        </p:spPr>
        <p:txBody>
          <a:bodyPr vert="horz" wrap="square" lIns="0" tIns="0" rIns="0" bIns="0" rtlCol="0" anchor="t">
            <a:spAutoFit/>
          </a:bodyPr>
          <a:lstStyle/>
          <a:p>
            <a:pPr algn="ctr"/>
            <a:r>
              <a:rPr lang="en-IN" sz="1400" b="1">
                <a:solidFill>
                  <a:srgbClr val="FFFFFF"/>
                </a:solidFill>
              </a:rPr>
              <a:t>90%</a:t>
            </a:r>
          </a:p>
        </p:txBody>
      </p:sp>
      <p:sp>
        <p:nvSpPr>
          <p:cNvPr id="22" name="TextBox 21">
            <a:extLst>
              <a:ext uri="{FF2B5EF4-FFF2-40B4-BE49-F238E27FC236}">
                <a16:creationId xmlns:a16="http://schemas.microsoft.com/office/drawing/2014/main" id="{35A423C1-F14A-F19B-AE18-66EE2DE83273}"/>
              </a:ext>
            </a:extLst>
          </p:cNvPr>
          <p:cNvSpPr txBox="1"/>
          <p:nvPr/>
        </p:nvSpPr>
        <p:spPr>
          <a:xfrm>
            <a:off x="2324100" y="4483100"/>
            <a:ext cx="1193800" cy="230832"/>
          </a:xfrm>
          <a:prstGeom prst="rect">
            <a:avLst/>
          </a:prstGeom>
          <a:noFill/>
        </p:spPr>
        <p:txBody>
          <a:bodyPr vert="horz" wrap="square" lIns="0" tIns="0" rIns="0" bIns="0" rtlCol="0" anchor="t">
            <a:spAutoFit/>
          </a:bodyPr>
          <a:lstStyle/>
          <a:p>
            <a:pPr algn="ctr"/>
            <a:r>
              <a:rPr lang="en-US" sz="750">
                <a:solidFill>
                  <a:srgbClr val="FFFFFF"/>
                </a:solidFill>
              </a:rPr>
              <a:t>of resulting vision loss is preventable</a:t>
            </a:r>
            <a:endParaRPr lang="en-IN" sz="750">
              <a:solidFill>
                <a:srgbClr val="FFFFFF"/>
              </a:solidFill>
            </a:endParaRPr>
          </a:p>
        </p:txBody>
      </p:sp>
      <p:sp>
        <p:nvSpPr>
          <p:cNvPr id="23" name="TextBox 22">
            <a:extLst>
              <a:ext uri="{FF2B5EF4-FFF2-40B4-BE49-F238E27FC236}">
                <a16:creationId xmlns:a16="http://schemas.microsoft.com/office/drawing/2014/main" id="{C465CC8C-6819-734F-19F8-EBB2531B19E5}"/>
              </a:ext>
            </a:extLst>
          </p:cNvPr>
          <p:cNvSpPr txBox="1"/>
          <p:nvPr/>
        </p:nvSpPr>
        <p:spPr>
          <a:xfrm>
            <a:off x="381000" y="4826000"/>
            <a:ext cx="5080000" cy="153888"/>
          </a:xfrm>
          <a:prstGeom prst="rect">
            <a:avLst/>
          </a:prstGeom>
          <a:noFill/>
        </p:spPr>
        <p:txBody>
          <a:bodyPr vert="horz" wrap="square" lIns="0" tIns="0" rIns="0" bIns="0" rtlCol="0" anchor="t">
            <a:spAutoFit/>
          </a:bodyPr>
          <a:lstStyle/>
          <a:p>
            <a:pPr algn="ctr"/>
            <a:r>
              <a:rPr lang="en-US" sz="1000" b="1" i="1">
                <a:solidFill>
                  <a:srgbClr val="0B2545"/>
                </a:solidFill>
              </a:rPr>
              <a:t>The gap is not treatment. The gap is screening capacity.</a:t>
            </a:r>
            <a:endParaRPr lang="en-IN" sz="1000" b="1" i="1">
              <a:solidFill>
                <a:srgbClr val="0B2545"/>
              </a:solidFill>
            </a:endParaRPr>
          </a:p>
        </p:txBody>
      </p:sp>
      <p:sp>
        <p:nvSpPr>
          <p:cNvPr id="24" name="TextBox 23">
            <a:extLst>
              <a:ext uri="{FF2B5EF4-FFF2-40B4-BE49-F238E27FC236}">
                <a16:creationId xmlns:a16="http://schemas.microsoft.com/office/drawing/2014/main" id="{158FD886-5191-657D-177F-9BE05C688808}"/>
              </a:ext>
            </a:extLst>
          </p:cNvPr>
          <p:cNvSpPr txBox="1"/>
          <p:nvPr/>
        </p:nvSpPr>
        <p:spPr>
          <a:xfrm>
            <a:off x="5740400" y="1574800"/>
            <a:ext cx="6070600" cy="169277"/>
          </a:xfrm>
          <a:prstGeom prst="rect">
            <a:avLst/>
          </a:prstGeom>
          <a:noFill/>
        </p:spPr>
        <p:txBody>
          <a:bodyPr vert="horz" wrap="square" lIns="0" tIns="0" rIns="0" bIns="0" rtlCol="0" anchor="t">
            <a:spAutoFit/>
          </a:bodyPr>
          <a:lstStyle/>
          <a:p>
            <a:r>
              <a:rPr lang="en-US" sz="1100" b="1">
                <a:solidFill>
                  <a:srgbClr val="0B2545"/>
                </a:solidFill>
              </a:rPr>
              <a:t>ONE DISTRICT, 100,000 PATIENTS PER YEAR</a:t>
            </a:r>
            <a:endParaRPr lang="en-IN" sz="1100" b="1">
              <a:solidFill>
                <a:srgbClr val="0B2545"/>
              </a:solidFill>
            </a:endParaRPr>
          </a:p>
        </p:txBody>
      </p:sp>
      <p:graphicFrame>
        <p:nvGraphicFramePr>
          <p:cNvPr id="25" name="Table 24">
            <a:extLst>
              <a:ext uri="{FF2B5EF4-FFF2-40B4-BE49-F238E27FC236}">
                <a16:creationId xmlns:a16="http://schemas.microsoft.com/office/drawing/2014/main" id="{7BB2FF4A-73E9-76CA-E356-FFB75B831013}"/>
              </a:ext>
            </a:extLst>
          </p:cNvPr>
          <p:cNvGraphicFramePr>
            <a:graphicFrameLocks noGrp="1"/>
          </p:cNvGraphicFramePr>
          <p:nvPr>
            <p:extLst>
              <p:ext uri="{D42A27DB-BD31-4B8C-83A1-F6EECF244321}">
                <p14:modId xmlns:p14="http://schemas.microsoft.com/office/powerpoint/2010/main" val="1029615502"/>
              </p:ext>
            </p:extLst>
          </p:nvPr>
        </p:nvGraphicFramePr>
        <p:xfrm>
          <a:off x="5740400" y="1854200"/>
          <a:ext cx="6070600" cy="2540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592482050"/>
                    </a:ext>
                  </a:extLst>
                </a:gridCol>
                <a:gridCol w="1498600">
                  <a:extLst>
                    <a:ext uri="{9D8B030D-6E8A-4147-A177-3AD203B41FA5}">
                      <a16:colId xmlns:a16="http://schemas.microsoft.com/office/drawing/2014/main" val="2997312796"/>
                    </a:ext>
                  </a:extLst>
                </a:gridCol>
                <a:gridCol w="2159000">
                  <a:extLst>
                    <a:ext uri="{9D8B030D-6E8A-4147-A177-3AD203B41FA5}">
                      <a16:colId xmlns:a16="http://schemas.microsoft.com/office/drawing/2014/main" val="1943878001"/>
                    </a:ext>
                  </a:extLst>
                </a:gridCol>
              </a:tblGrid>
              <a:tr h="362857">
                <a:tc>
                  <a:txBody>
                    <a:bodyPr/>
                    <a:lstStyle/>
                    <a:p>
                      <a:endParaRPr lang="en-IN" sz="900" b="1">
                        <a:solidFill>
                          <a:srgbClr val="FFFFFF"/>
                        </a:solidFill>
                        <a:latin typeface="Calibri" panose="020F0502020204030204" pitchFamily="34" charset="0"/>
                      </a:endParaRPr>
                    </a:p>
                  </a:txBody>
                  <a:tcPr marL="63500" marT="12700" marB="12700">
                    <a:lnL w="12700" cmpd="sng">
                      <a:solidFill>
                        <a:srgbClr val="EDF0F2"/>
                      </a:solidFill>
                    </a:lnL>
                    <a:lnR w="12700" cmpd="sng">
                      <a:solidFill>
                        <a:srgbClr val="EDF0F2"/>
                      </a:solidFill>
                    </a:lnR>
                    <a:lnT w="12700" cmpd="sng">
                      <a:solidFill>
                        <a:srgbClr val="EDF0F2"/>
                      </a:solidFill>
                    </a:lnT>
                    <a:lnB w="38100" cmpd="sng">
                      <a:solidFill>
                        <a:srgbClr val="EDF0F2"/>
                      </a:solidFill>
                    </a:lnB>
                    <a:solidFill>
                      <a:srgbClr val="0B2545"/>
                    </a:solidFill>
                  </a:tcPr>
                </a:tc>
                <a:tc>
                  <a:txBody>
                    <a:bodyPr/>
                    <a:lstStyle/>
                    <a:p>
                      <a:r>
                        <a:rPr lang="en-IN" sz="900" b="1">
                          <a:solidFill>
                            <a:srgbClr val="FFFFFF"/>
                          </a:solidFill>
                          <a:latin typeface="Calibri" panose="020F0502020204030204" pitchFamily="34" charset="0"/>
                        </a:rPr>
                        <a:t>✕  Manual</a:t>
                      </a:r>
                    </a:p>
                  </a:txBody>
                  <a:tcPr marL="63500" marT="12700" marB="12700">
                    <a:lnL w="12700" cmpd="sng">
                      <a:solidFill>
                        <a:srgbClr val="EDF0F2"/>
                      </a:solidFill>
                    </a:lnL>
                    <a:lnR w="12700" cmpd="sng">
                      <a:solidFill>
                        <a:srgbClr val="EDF0F2"/>
                      </a:solidFill>
                    </a:lnR>
                    <a:lnT w="12700" cmpd="sng">
                      <a:solidFill>
                        <a:srgbClr val="EDF0F2"/>
                      </a:solidFill>
                    </a:lnT>
                    <a:lnB w="38100" cmpd="sng">
                      <a:solidFill>
                        <a:srgbClr val="EDF0F2"/>
                      </a:solidFill>
                    </a:lnB>
                    <a:solidFill>
                      <a:srgbClr val="0B2545"/>
                    </a:solidFill>
                  </a:tcPr>
                </a:tc>
                <a:tc>
                  <a:txBody>
                    <a:bodyPr/>
                    <a:lstStyle/>
                    <a:p>
                      <a:r>
                        <a:rPr lang="en-IN" sz="900" b="1">
                          <a:solidFill>
                            <a:srgbClr val="FFFFFF"/>
                          </a:solidFill>
                          <a:latin typeface="Calibri" panose="020F0502020204030204" pitchFamily="34" charset="0"/>
                        </a:rPr>
                        <a:t>✓  With NETRA</a:t>
                      </a:r>
                    </a:p>
                  </a:txBody>
                  <a:tcPr marL="63500" marT="12700" marB="12700">
                    <a:lnL w="12700" cmpd="sng">
                      <a:solidFill>
                        <a:srgbClr val="EDF0F2"/>
                      </a:solidFill>
                    </a:lnL>
                    <a:lnR w="12700" cmpd="sng">
                      <a:solidFill>
                        <a:srgbClr val="EDF0F2"/>
                      </a:solidFill>
                    </a:lnR>
                    <a:lnT w="12700" cmpd="sng">
                      <a:solidFill>
                        <a:srgbClr val="EDF0F2"/>
                      </a:solidFill>
                    </a:lnT>
                    <a:lnB w="38100" cmpd="sng">
                      <a:solidFill>
                        <a:srgbClr val="EDF0F2"/>
                      </a:solidFill>
                    </a:lnB>
                    <a:solidFill>
                      <a:srgbClr val="0B2545"/>
                    </a:solidFill>
                  </a:tcPr>
                </a:tc>
                <a:extLst>
                  <a:ext uri="{0D108BD9-81ED-4DB2-BD59-A6C34878D82A}">
                    <a16:rowId xmlns:a16="http://schemas.microsoft.com/office/drawing/2014/main" val="2259293995"/>
                  </a:ext>
                </a:extLst>
              </a:tr>
              <a:tr h="362857">
                <a:tc>
                  <a:txBody>
                    <a:bodyPr/>
                    <a:lstStyle/>
                    <a:p>
                      <a:r>
                        <a:rPr lang="en-IN" sz="900">
                          <a:solidFill>
                            <a:srgbClr val="0B2545"/>
                          </a:solidFill>
                          <a:latin typeface="Calibri" panose="020F0502020204030204" pitchFamily="34" charset="0"/>
                        </a:rPr>
                        <a:t>Patients screened / year</a:t>
                      </a:r>
                    </a:p>
                  </a:txBody>
                  <a:tcPr marL="63500" marT="12700" marB="12700">
                    <a:lnL w="12700" cmpd="sng">
                      <a:solidFill>
                        <a:srgbClr val="EDF0F2"/>
                      </a:solidFill>
                    </a:lnL>
                    <a:lnR w="12700" cmpd="sng">
                      <a:solidFill>
                        <a:srgbClr val="EDF0F2"/>
                      </a:solidFill>
                    </a:lnR>
                    <a:lnT w="38100" cmpd="sng">
                      <a:solidFill>
                        <a:srgbClr val="EDF0F2"/>
                      </a:solidFill>
                    </a:lnT>
                    <a:lnB w="12700" cmpd="sng">
                      <a:solidFill>
                        <a:srgbClr val="EDF0F2"/>
                      </a:solidFill>
                    </a:lnB>
                    <a:solidFill>
                      <a:srgbClr val="FFFFFF"/>
                    </a:solidFill>
                  </a:tcPr>
                </a:tc>
                <a:tc>
                  <a:txBody>
                    <a:bodyPr/>
                    <a:lstStyle/>
                    <a:p>
                      <a:r>
                        <a:rPr lang="en-IN" sz="900">
                          <a:solidFill>
                            <a:srgbClr val="C1272D"/>
                          </a:solidFill>
                          <a:latin typeface="Calibri" panose="020F0502020204030204" pitchFamily="34" charset="0"/>
                        </a:rPr>
                        <a:t>100,000</a:t>
                      </a:r>
                    </a:p>
                  </a:txBody>
                  <a:tcPr marL="63500" marT="12700" marB="12700">
                    <a:lnL w="12700" cmpd="sng">
                      <a:solidFill>
                        <a:srgbClr val="EDF0F2"/>
                      </a:solidFill>
                    </a:lnL>
                    <a:lnR w="12700" cmpd="sng">
                      <a:solidFill>
                        <a:srgbClr val="EDF0F2"/>
                      </a:solidFill>
                    </a:lnR>
                    <a:lnT w="38100" cmpd="sng">
                      <a:solidFill>
                        <a:srgbClr val="EDF0F2"/>
                      </a:solidFill>
                    </a:lnT>
                    <a:lnB w="12700" cmpd="sng">
                      <a:solidFill>
                        <a:srgbClr val="EDF0F2"/>
                      </a:solidFill>
                    </a:lnB>
                    <a:solidFill>
                      <a:srgbClr val="FFFFFF"/>
                    </a:solidFill>
                  </a:tcPr>
                </a:tc>
                <a:tc>
                  <a:txBody>
                    <a:bodyPr/>
                    <a:lstStyle/>
                    <a:p>
                      <a:r>
                        <a:rPr lang="en-IN" sz="900" b="1">
                          <a:solidFill>
                            <a:srgbClr val="3E8E5A"/>
                          </a:solidFill>
                          <a:latin typeface="Calibri" panose="020F0502020204030204" pitchFamily="34" charset="0"/>
                        </a:rPr>
                        <a:t>100,000</a:t>
                      </a:r>
                    </a:p>
                  </a:txBody>
                  <a:tcPr marL="63500" marT="12700" marB="12700">
                    <a:lnL w="12700" cmpd="sng">
                      <a:solidFill>
                        <a:srgbClr val="EDF0F2"/>
                      </a:solidFill>
                    </a:lnL>
                    <a:lnR w="12700" cmpd="sng">
                      <a:solidFill>
                        <a:srgbClr val="EDF0F2"/>
                      </a:solidFill>
                    </a:lnR>
                    <a:lnT w="38100" cmpd="sng">
                      <a:solidFill>
                        <a:srgbClr val="EDF0F2"/>
                      </a:solidFill>
                    </a:lnT>
                    <a:lnB w="12700" cmpd="sng">
                      <a:solidFill>
                        <a:srgbClr val="EDF0F2"/>
                      </a:solidFill>
                    </a:lnB>
                    <a:solidFill>
                      <a:srgbClr val="FFFFFF"/>
                    </a:solidFill>
                  </a:tcPr>
                </a:tc>
                <a:extLst>
                  <a:ext uri="{0D108BD9-81ED-4DB2-BD59-A6C34878D82A}">
                    <a16:rowId xmlns:a16="http://schemas.microsoft.com/office/drawing/2014/main" val="4172692816"/>
                  </a:ext>
                </a:extLst>
              </a:tr>
              <a:tr h="362857">
                <a:tc>
                  <a:txBody>
                    <a:bodyPr/>
                    <a:lstStyle/>
                    <a:p>
                      <a:r>
                        <a:rPr lang="en-US" sz="900">
                          <a:solidFill>
                            <a:srgbClr val="0B2545"/>
                          </a:solidFill>
                          <a:latin typeface="Calibri" panose="020F0502020204030204" pitchFamily="34" charset="0"/>
                        </a:rPr>
                        <a:t>Images an expert must read</a:t>
                      </a:r>
                      <a:endParaRPr lang="en-IN" sz="900">
                        <a:solidFill>
                          <a:srgbClr val="0B2545"/>
                        </a:solidFill>
                        <a:latin typeface="Calibri" panose="020F0502020204030204" pitchFamily="34" charset="0"/>
                      </a:endParaRP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900">
                          <a:solidFill>
                            <a:srgbClr val="C1272D"/>
                          </a:solidFill>
                          <a:latin typeface="Calibri" panose="020F0502020204030204" pitchFamily="34" charset="0"/>
                        </a:rPr>
                        <a:t>100,000</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900" b="1">
                          <a:solidFill>
                            <a:srgbClr val="3E8E5A"/>
                          </a:solidFill>
                          <a:latin typeface="Calibri" panose="020F0502020204030204" pitchFamily="34" charset="0"/>
                        </a:rPr>
                        <a:t>40,073</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extLst>
                  <a:ext uri="{0D108BD9-81ED-4DB2-BD59-A6C34878D82A}">
                    <a16:rowId xmlns:a16="http://schemas.microsoft.com/office/drawing/2014/main" val="506797346"/>
                  </a:ext>
                </a:extLst>
              </a:tr>
              <a:tr h="362857">
                <a:tc>
                  <a:txBody>
                    <a:bodyPr/>
                    <a:lstStyle/>
                    <a:p>
                      <a:r>
                        <a:rPr lang="en-IN" sz="900">
                          <a:solidFill>
                            <a:srgbClr val="0B2545"/>
                          </a:solidFill>
                          <a:latin typeface="Calibri" panose="020F0502020204030204" pitchFamily="34" charset="0"/>
                        </a:rPr>
                        <a:t>Ophthalmologists (FTE)</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tc>
                  <a:txBody>
                    <a:bodyPr/>
                    <a:lstStyle/>
                    <a:p>
                      <a:r>
                        <a:rPr lang="en-IN" sz="900">
                          <a:solidFill>
                            <a:srgbClr val="C1272D"/>
                          </a:solidFill>
                          <a:latin typeface="Calibri" panose="020F0502020204030204" pitchFamily="34" charset="0"/>
                        </a:rPr>
                        <a:t>1.7</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tc>
                  <a:txBody>
                    <a:bodyPr/>
                    <a:lstStyle/>
                    <a:p>
                      <a:r>
                        <a:rPr lang="en-IN" sz="900" b="1">
                          <a:solidFill>
                            <a:srgbClr val="3E8E5A"/>
                          </a:solidFill>
                          <a:latin typeface="Calibri" panose="020F0502020204030204" pitchFamily="34" charset="0"/>
                        </a:rPr>
                        <a:t>0.6</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extLst>
                  <a:ext uri="{0D108BD9-81ED-4DB2-BD59-A6C34878D82A}">
                    <a16:rowId xmlns:a16="http://schemas.microsoft.com/office/drawing/2014/main" val="1306286128"/>
                  </a:ext>
                </a:extLst>
              </a:tr>
              <a:tr h="362857">
                <a:tc>
                  <a:txBody>
                    <a:bodyPr/>
                    <a:lstStyle/>
                    <a:p>
                      <a:r>
                        <a:rPr lang="en-IN" sz="900">
                          <a:solidFill>
                            <a:srgbClr val="0B2545"/>
                          </a:solidFill>
                          <a:latin typeface="Calibri" panose="020F0502020204030204" pitchFamily="34" charset="0"/>
                        </a:rPr>
                        <a:t>Expert reading time / day</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US" sz="900">
                          <a:solidFill>
                            <a:srgbClr val="C1272D"/>
                          </a:solidFill>
                          <a:latin typeface="Calibri" panose="020F0502020204030204" pitchFamily="34" charset="0"/>
                        </a:rPr>
                        <a:t>10 hrs of work, 6 available</a:t>
                      </a:r>
                      <a:endParaRPr lang="en-IN" sz="900">
                        <a:solidFill>
                          <a:srgbClr val="C1272D"/>
                        </a:solidFill>
                        <a:latin typeface="Calibri" panose="020F0502020204030204" pitchFamily="34" charset="0"/>
                      </a:endParaRP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900" b="1">
                          <a:solidFill>
                            <a:srgbClr val="3E8E5A"/>
                          </a:solidFill>
                          <a:latin typeface="Calibri" panose="020F0502020204030204" pitchFamily="34" charset="0"/>
                        </a:rPr>
                        <a:t>200 min</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extLst>
                  <a:ext uri="{0D108BD9-81ED-4DB2-BD59-A6C34878D82A}">
                    <a16:rowId xmlns:a16="http://schemas.microsoft.com/office/drawing/2014/main" val="1197219110"/>
                  </a:ext>
                </a:extLst>
              </a:tr>
              <a:tr h="362857">
                <a:tc>
                  <a:txBody>
                    <a:bodyPr/>
                    <a:lstStyle/>
                    <a:p>
                      <a:r>
                        <a:rPr lang="en-IN" sz="900">
                          <a:solidFill>
                            <a:srgbClr val="0B2545"/>
                          </a:solidFill>
                          <a:latin typeface="Calibri" panose="020F0502020204030204" pitchFamily="34" charset="0"/>
                        </a:rPr>
                        <a:t>Upload volume / day</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tc>
                  <a:txBody>
                    <a:bodyPr/>
                    <a:lstStyle/>
                    <a:p>
                      <a:r>
                        <a:rPr lang="en-IN" sz="900">
                          <a:solidFill>
                            <a:srgbClr val="C1272D"/>
                          </a:solidFill>
                          <a:latin typeface="Calibri" panose="020F0502020204030204" pitchFamily="34" charset="0"/>
                        </a:rPr>
                        <a:t>0.86 GB</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tc>
                  <a:txBody>
                    <a:bodyPr/>
                    <a:lstStyle/>
                    <a:p>
                      <a:r>
                        <a:rPr lang="en-IN" sz="900" b="1">
                          <a:solidFill>
                            <a:srgbClr val="3E8E5A"/>
                          </a:solidFill>
                          <a:latin typeface="Calibri" panose="020F0502020204030204" pitchFamily="34" charset="0"/>
                        </a:rPr>
                        <a:t>0.35 GB</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extLst>
                  <a:ext uri="{0D108BD9-81ED-4DB2-BD59-A6C34878D82A}">
                    <a16:rowId xmlns:a16="http://schemas.microsoft.com/office/drawing/2014/main" val="95627172"/>
                  </a:ext>
                </a:extLst>
              </a:tr>
              <a:tr h="362857">
                <a:tc>
                  <a:txBody>
                    <a:bodyPr/>
                    <a:lstStyle/>
                    <a:p>
                      <a:r>
                        <a:rPr lang="en-IN" sz="900">
                          <a:solidFill>
                            <a:srgbClr val="0B2545"/>
                          </a:solidFill>
                          <a:latin typeface="Calibri" panose="020F0502020204030204" pitchFamily="34" charset="0"/>
                        </a:rPr>
                        <a:t>Result turnaround</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900">
                          <a:solidFill>
                            <a:srgbClr val="C1272D"/>
                          </a:solidFill>
                          <a:latin typeface="Calibri" panose="020F0502020204030204" pitchFamily="34" charset="0"/>
                        </a:rPr>
                        <a:t>2–4 weeks</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US" sz="900" b="1">
                          <a:solidFill>
                            <a:srgbClr val="3E8E5A"/>
                          </a:solidFill>
                          <a:latin typeface="Calibri" panose="020F0502020204030204" pitchFamily="34" charset="0"/>
                        </a:rPr>
                        <a:t>10 s, at the point of care</a:t>
                      </a:r>
                      <a:endParaRPr lang="en-IN" sz="900" b="1">
                        <a:solidFill>
                          <a:srgbClr val="3E8E5A"/>
                        </a:solidFill>
                        <a:latin typeface="Calibri" panose="020F0502020204030204" pitchFamily="34" charset="0"/>
                      </a:endParaRP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extLst>
                  <a:ext uri="{0D108BD9-81ED-4DB2-BD59-A6C34878D82A}">
                    <a16:rowId xmlns:a16="http://schemas.microsoft.com/office/drawing/2014/main" val="971370301"/>
                  </a:ext>
                </a:extLst>
              </a:tr>
            </a:tbl>
          </a:graphicData>
        </a:graphic>
      </p:graphicFrame>
      <p:sp>
        <p:nvSpPr>
          <p:cNvPr id="26" name="Rectangle 25">
            <a:extLst>
              <a:ext uri="{FF2B5EF4-FFF2-40B4-BE49-F238E27FC236}">
                <a16:creationId xmlns:a16="http://schemas.microsoft.com/office/drawing/2014/main" id="{DB8323CF-302A-8343-15F2-C062B4DDA224}"/>
              </a:ext>
            </a:extLst>
          </p:cNvPr>
          <p:cNvSpPr/>
          <p:nvPr/>
        </p:nvSpPr>
        <p:spPr>
          <a:xfrm>
            <a:off x="5740400" y="4445000"/>
            <a:ext cx="6070600" cy="5080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27" name="TextBox 26">
            <a:extLst>
              <a:ext uri="{FF2B5EF4-FFF2-40B4-BE49-F238E27FC236}">
                <a16:creationId xmlns:a16="http://schemas.microsoft.com/office/drawing/2014/main" id="{EC83E494-3826-FBB5-7669-F5DA1D0AC2E7}"/>
              </a:ext>
            </a:extLst>
          </p:cNvPr>
          <p:cNvSpPr txBox="1"/>
          <p:nvPr/>
        </p:nvSpPr>
        <p:spPr>
          <a:xfrm>
            <a:off x="5842000" y="4495800"/>
            <a:ext cx="5867400" cy="276999"/>
          </a:xfrm>
          <a:prstGeom prst="rect">
            <a:avLst/>
          </a:prstGeom>
          <a:noFill/>
        </p:spPr>
        <p:txBody>
          <a:bodyPr vert="horz" wrap="square" lIns="0" tIns="0" rIns="0" bIns="0" rtlCol="0" anchor="ctr">
            <a:spAutoFit/>
          </a:bodyPr>
          <a:lstStyle/>
          <a:p>
            <a:r>
              <a:rPr lang="en-US" sz="900" b="1">
                <a:solidFill>
                  <a:srgbClr val="0B2545"/>
                </a:solidFill>
              </a:rPr>
              <a:t>Manual review is not a staffing shortfall — it is an unstable queue. The Simulink model accumulates 167 expert-days of backlog in one working year. An expert can absorb 72% of captures before the queue diverges; NETRA flags 40%.</a:t>
            </a:r>
            <a:endParaRPr lang="en-IN" sz="900" b="1">
              <a:solidFill>
                <a:srgbClr val="0B2545"/>
              </a:solidFill>
            </a:endParaRPr>
          </a:p>
        </p:txBody>
      </p:sp>
      <p:sp>
        <p:nvSpPr>
          <p:cNvPr id="28" name="TextBox 27">
            <a:extLst>
              <a:ext uri="{FF2B5EF4-FFF2-40B4-BE49-F238E27FC236}">
                <a16:creationId xmlns:a16="http://schemas.microsoft.com/office/drawing/2014/main" id="{9348A406-A5E2-2F96-80AC-03253E8FE663}"/>
              </a:ext>
            </a:extLst>
          </p:cNvPr>
          <p:cNvSpPr txBox="1"/>
          <p:nvPr/>
        </p:nvSpPr>
        <p:spPr>
          <a:xfrm>
            <a:off x="5740400" y="4978400"/>
            <a:ext cx="6070600" cy="138499"/>
          </a:xfrm>
          <a:prstGeom prst="rect">
            <a:avLst/>
          </a:prstGeom>
          <a:noFill/>
        </p:spPr>
        <p:txBody>
          <a:bodyPr vert="horz" wrap="square" lIns="0" tIns="0" rIns="0" bIns="0" rtlCol="0" anchor="t">
            <a:spAutoFit/>
          </a:bodyPr>
          <a:lstStyle/>
          <a:p>
            <a:r>
              <a:rPr lang="en-US" sz="900" i="1">
                <a:solidFill>
                  <a:srgbClr val="78828C"/>
                </a:solidFill>
              </a:rPr>
              <a:t>districtSim.m + buildNetraSimulink.m, driven by the grader's own held-out triage rate. Assumptions named in the scripts.</a:t>
            </a:r>
            <a:endParaRPr lang="en-IN" sz="900" i="1">
              <a:solidFill>
                <a:srgbClr val="78828C"/>
              </a:solidFill>
            </a:endParaRPr>
          </a:p>
        </p:txBody>
      </p:sp>
      <p:sp>
        <p:nvSpPr>
          <p:cNvPr id="29" name="Rectangle 28">
            <a:extLst>
              <a:ext uri="{FF2B5EF4-FFF2-40B4-BE49-F238E27FC236}">
                <a16:creationId xmlns:a16="http://schemas.microsoft.com/office/drawing/2014/main" id="{0DA60F17-1695-D2E7-2BE2-3E2F1F88B142}"/>
              </a:ext>
            </a:extLst>
          </p:cNvPr>
          <p:cNvSpPr/>
          <p:nvPr/>
        </p:nvSpPr>
        <p:spPr>
          <a:xfrm>
            <a:off x="381000" y="5130800"/>
            <a:ext cx="2768600" cy="7874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30" name="TextBox 29">
            <a:extLst>
              <a:ext uri="{FF2B5EF4-FFF2-40B4-BE49-F238E27FC236}">
                <a16:creationId xmlns:a16="http://schemas.microsoft.com/office/drawing/2014/main" id="{7C1DD1D3-2DCC-2054-AB00-E2AFBC315D31}"/>
              </a:ext>
            </a:extLst>
          </p:cNvPr>
          <p:cNvSpPr txBox="1"/>
          <p:nvPr/>
        </p:nvSpPr>
        <p:spPr>
          <a:xfrm>
            <a:off x="482600" y="5181600"/>
            <a:ext cx="2565400" cy="161583"/>
          </a:xfrm>
          <a:prstGeom prst="rect">
            <a:avLst/>
          </a:prstGeom>
          <a:noFill/>
        </p:spPr>
        <p:txBody>
          <a:bodyPr vert="horz" wrap="square" lIns="0" tIns="0" rIns="0" bIns="0" rtlCol="0" anchor="t">
            <a:spAutoFit/>
          </a:bodyPr>
          <a:lstStyle/>
          <a:p>
            <a:r>
              <a:rPr lang="en-IN" sz="1050" b="1">
                <a:solidFill>
                  <a:srgbClr val="0E7C86"/>
                </a:solidFill>
              </a:rPr>
              <a:t>Social</a:t>
            </a:r>
          </a:p>
        </p:txBody>
      </p:sp>
      <p:sp>
        <p:nvSpPr>
          <p:cNvPr id="31" name="TextBox 30">
            <a:extLst>
              <a:ext uri="{FF2B5EF4-FFF2-40B4-BE49-F238E27FC236}">
                <a16:creationId xmlns:a16="http://schemas.microsoft.com/office/drawing/2014/main" id="{66DC4946-9C16-B216-1787-47709A84F124}"/>
              </a:ext>
            </a:extLst>
          </p:cNvPr>
          <p:cNvSpPr txBox="1"/>
          <p:nvPr/>
        </p:nvSpPr>
        <p:spPr>
          <a:xfrm>
            <a:off x="482600" y="5384800"/>
            <a:ext cx="2565400" cy="246221"/>
          </a:xfrm>
          <a:prstGeom prst="rect">
            <a:avLst/>
          </a:prstGeom>
          <a:noFill/>
        </p:spPr>
        <p:txBody>
          <a:bodyPr vert="horz" wrap="square" lIns="0" tIns="0" rIns="0" bIns="0" rtlCol="0" anchor="t">
            <a:spAutoFit/>
          </a:bodyPr>
          <a:lstStyle/>
          <a:p>
            <a:r>
              <a:rPr lang="en-US" sz="800">
                <a:solidFill>
                  <a:srgbClr val="0B2545"/>
                </a:solidFill>
              </a:rPr>
              <a:t>sight preserved for patients who would never reach a specialist</a:t>
            </a:r>
            <a:endParaRPr lang="en-IN" sz="800">
              <a:solidFill>
                <a:srgbClr val="0B2545"/>
              </a:solidFill>
            </a:endParaRPr>
          </a:p>
        </p:txBody>
      </p:sp>
      <p:sp>
        <p:nvSpPr>
          <p:cNvPr id="32" name="Rectangle 31">
            <a:extLst>
              <a:ext uri="{FF2B5EF4-FFF2-40B4-BE49-F238E27FC236}">
                <a16:creationId xmlns:a16="http://schemas.microsoft.com/office/drawing/2014/main" id="{9F40FE81-E378-B2DE-FD83-3515BCEA7714}"/>
              </a:ext>
            </a:extLst>
          </p:cNvPr>
          <p:cNvSpPr/>
          <p:nvPr/>
        </p:nvSpPr>
        <p:spPr>
          <a:xfrm>
            <a:off x="3276600" y="5130800"/>
            <a:ext cx="2768600" cy="7874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33" name="TextBox 32">
            <a:extLst>
              <a:ext uri="{FF2B5EF4-FFF2-40B4-BE49-F238E27FC236}">
                <a16:creationId xmlns:a16="http://schemas.microsoft.com/office/drawing/2014/main" id="{B6354665-7E06-FAAF-DB96-11B4C3513FEE}"/>
              </a:ext>
            </a:extLst>
          </p:cNvPr>
          <p:cNvSpPr txBox="1"/>
          <p:nvPr/>
        </p:nvSpPr>
        <p:spPr>
          <a:xfrm>
            <a:off x="3378200" y="5181600"/>
            <a:ext cx="2565400" cy="161583"/>
          </a:xfrm>
          <a:prstGeom prst="rect">
            <a:avLst/>
          </a:prstGeom>
          <a:noFill/>
        </p:spPr>
        <p:txBody>
          <a:bodyPr vert="horz" wrap="square" lIns="0" tIns="0" rIns="0" bIns="0" rtlCol="0" anchor="t">
            <a:spAutoFit/>
          </a:bodyPr>
          <a:lstStyle/>
          <a:p>
            <a:r>
              <a:rPr lang="en-IN" sz="1050" b="1">
                <a:solidFill>
                  <a:srgbClr val="0E7C86"/>
                </a:solidFill>
              </a:rPr>
              <a:t>Economic</a:t>
            </a:r>
          </a:p>
        </p:txBody>
      </p:sp>
      <p:sp>
        <p:nvSpPr>
          <p:cNvPr id="34" name="TextBox 33">
            <a:extLst>
              <a:ext uri="{FF2B5EF4-FFF2-40B4-BE49-F238E27FC236}">
                <a16:creationId xmlns:a16="http://schemas.microsoft.com/office/drawing/2014/main" id="{7B3C9C20-8344-6412-7FE0-9E9B65E99F9C}"/>
              </a:ext>
            </a:extLst>
          </p:cNvPr>
          <p:cNvSpPr txBox="1"/>
          <p:nvPr/>
        </p:nvSpPr>
        <p:spPr>
          <a:xfrm>
            <a:off x="3378200" y="5384800"/>
            <a:ext cx="2565400" cy="123111"/>
          </a:xfrm>
          <a:prstGeom prst="rect">
            <a:avLst/>
          </a:prstGeom>
          <a:noFill/>
        </p:spPr>
        <p:txBody>
          <a:bodyPr vert="horz" wrap="square" lIns="0" tIns="0" rIns="0" bIns="0" rtlCol="0" anchor="t">
            <a:spAutoFit/>
          </a:bodyPr>
          <a:lstStyle/>
          <a:p>
            <a:r>
              <a:rPr lang="en-US" sz="800">
                <a:solidFill>
                  <a:srgbClr val="0B2545"/>
                </a:solidFill>
              </a:rPr>
              <a:t>averts the lifetime cost of avoidable blindness per case</a:t>
            </a:r>
            <a:endParaRPr lang="en-IN" sz="800">
              <a:solidFill>
                <a:srgbClr val="0B2545"/>
              </a:solidFill>
            </a:endParaRPr>
          </a:p>
        </p:txBody>
      </p:sp>
      <p:sp>
        <p:nvSpPr>
          <p:cNvPr id="35" name="Rectangle 34">
            <a:extLst>
              <a:ext uri="{FF2B5EF4-FFF2-40B4-BE49-F238E27FC236}">
                <a16:creationId xmlns:a16="http://schemas.microsoft.com/office/drawing/2014/main" id="{7608DC15-937B-8913-2CBC-AFD41780E448}"/>
              </a:ext>
            </a:extLst>
          </p:cNvPr>
          <p:cNvSpPr/>
          <p:nvPr/>
        </p:nvSpPr>
        <p:spPr>
          <a:xfrm>
            <a:off x="6172200" y="5130800"/>
            <a:ext cx="2768600" cy="7874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36" name="TextBox 35">
            <a:extLst>
              <a:ext uri="{FF2B5EF4-FFF2-40B4-BE49-F238E27FC236}">
                <a16:creationId xmlns:a16="http://schemas.microsoft.com/office/drawing/2014/main" id="{370D9FA2-A3EB-68BB-18BB-82D8D151DA23}"/>
              </a:ext>
            </a:extLst>
          </p:cNvPr>
          <p:cNvSpPr txBox="1"/>
          <p:nvPr/>
        </p:nvSpPr>
        <p:spPr>
          <a:xfrm>
            <a:off x="6273800" y="5181600"/>
            <a:ext cx="2565400" cy="161583"/>
          </a:xfrm>
          <a:prstGeom prst="rect">
            <a:avLst/>
          </a:prstGeom>
          <a:noFill/>
        </p:spPr>
        <p:txBody>
          <a:bodyPr vert="horz" wrap="square" lIns="0" tIns="0" rIns="0" bIns="0" rtlCol="0" anchor="t">
            <a:spAutoFit/>
          </a:bodyPr>
          <a:lstStyle/>
          <a:p>
            <a:r>
              <a:rPr lang="en-IN" sz="1050" b="1">
                <a:solidFill>
                  <a:srgbClr val="0E7C86"/>
                </a:solidFill>
              </a:rPr>
              <a:t>Systemic</a:t>
            </a:r>
          </a:p>
        </p:txBody>
      </p:sp>
      <p:sp>
        <p:nvSpPr>
          <p:cNvPr id="37" name="TextBox 36">
            <a:extLst>
              <a:ext uri="{FF2B5EF4-FFF2-40B4-BE49-F238E27FC236}">
                <a16:creationId xmlns:a16="http://schemas.microsoft.com/office/drawing/2014/main" id="{2305E238-CD35-8E92-F66B-9CBEA9BA48E4}"/>
              </a:ext>
            </a:extLst>
          </p:cNvPr>
          <p:cNvSpPr txBox="1"/>
          <p:nvPr/>
        </p:nvSpPr>
        <p:spPr>
          <a:xfrm>
            <a:off x="6273800" y="5384800"/>
            <a:ext cx="2565400" cy="123111"/>
          </a:xfrm>
          <a:prstGeom prst="rect">
            <a:avLst/>
          </a:prstGeom>
          <a:noFill/>
        </p:spPr>
        <p:txBody>
          <a:bodyPr vert="horz" wrap="square" lIns="0" tIns="0" rIns="0" bIns="0" rtlCol="0" anchor="t">
            <a:spAutoFit/>
          </a:bodyPr>
          <a:lstStyle/>
          <a:p>
            <a:r>
              <a:rPr lang="en-US" sz="800">
                <a:solidFill>
                  <a:srgbClr val="0B2545"/>
                </a:solidFill>
              </a:rPr>
              <a:t>turns one scarce ophthalmologist into district-wide coverage</a:t>
            </a:r>
            <a:endParaRPr lang="en-IN" sz="800">
              <a:solidFill>
                <a:srgbClr val="0B2545"/>
              </a:solidFill>
            </a:endParaRPr>
          </a:p>
        </p:txBody>
      </p:sp>
      <p:sp>
        <p:nvSpPr>
          <p:cNvPr id="38" name="Rectangle 37">
            <a:extLst>
              <a:ext uri="{FF2B5EF4-FFF2-40B4-BE49-F238E27FC236}">
                <a16:creationId xmlns:a16="http://schemas.microsoft.com/office/drawing/2014/main" id="{F0AB7C5B-EE63-4A12-BA23-C39F810C64DD}"/>
              </a:ext>
            </a:extLst>
          </p:cNvPr>
          <p:cNvSpPr/>
          <p:nvPr/>
        </p:nvSpPr>
        <p:spPr>
          <a:xfrm>
            <a:off x="9067800" y="5130800"/>
            <a:ext cx="2768600" cy="7874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39" name="TextBox 38">
            <a:extLst>
              <a:ext uri="{FF2B5EF4-FFF2-40B4-BE49-F238E27FC236}">
                <a16:creationId xmlns:a16="http://schemas.microsoft.com/office/drawing/2014/main" id="{E0002507-D1D9-3740-19FE-29BFBC189B7D}"/>
              </a:ext>
            </a:extLst>
          </p:cNvPr>
          <p:cNvSpPr txBox="1"/>
          <p:nvPr/>
        </p:nvSpPr>
        <p:spPr>
          <a:xfrm>
            <a:off x="9169400" y="5181600"/>
            <a:ext cx="2565400" cy="161583"/>
          </a:xfrm>
          <a:prstGeom prst="rect">
            <a:avLst/>
          </a:prstGeom>
          <a:noFill/>
        </p:spPr>
        <p:txBody>
          <a:bodyPr vert="horz" wrap="square" lIns="0" tIns="0" rIns="0" bIns="0" rtlCol="0" anchor="t">
            <a:spAutoFit/>
          </a:bodyPr>
          <a:lstStyle/>
          <a:p>
            <a:r>
              <a:rPr lang="en-IN" sz="1050" b="1">
                <a:solidFill>
                  <a:srgbClr val="0E7C86"/>
                </a:solidFill>
              </a:rPr>
              <a:t>Aligned</a:t>
            </a:r>
          </a:p>
        </p:txBody>
      </p:sp>
      <p:sp>
        <p:nvSpPr>
          <p:cNvPr id="40" name="TextBox 39">
            <a:extLst>
              <a:ext uri="{FF2B5EF4-FFF2-40B4-BE49-F238E27FC236}">
                <a16:creationId xmlns:a16="http://schemas.microsoft.com/office/drawing/2014/main" id="{19D884BD-F797-9EDD-99A7-E9FF6EB43A97}"/>
              </a:ext>
            </a:extLst>
          </p:cNvPr>
          <p:cNvSpPr txBox="1"/>
          <p:nvPr/>
        </p:nvSpPr>
        <p:spPr>
          <a:xfrm>
            <a:off x="9169400" y="5384800"/>
            <a:ext cx="2565400" cy="246221"/>
          </a:xfrm>
          <a:prstGeom prst="rect">
            <a:avLst/>
          </a:prstGeom>
          <a:noFill/>
        </p:spPr>
        <p:txBody>
          <a:bodyPr vert="horz" wrap="square" lIns="0" tIns="0" rIns="0" bIns="0" rtlCol="0" anchor="t">
            <a:spAutoFit/>
          </a:bodyPr>
          <a:lstStyle/>
          <a:p>
            <a:r>
              <a:rPr lang="en-US" sz="800">
                <a:solidFill>
                  <a:srgbClr val="0B2545"/>
                </a:solidFill>
              </a:rPr>
              <a:t>supports Ayushman Bharat HWCs and NPCBVI screening targets</a:t>
            </a:r>
            <a:endParaRPr lang="en-IN" sz="800">
              <a:solidFill>
                <a:srgbClr val="0B2545"/>
              </a:solidFill>
            </a:endParaRP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381000" y="1168400"/>
            <a:ext cx="9271000" cy="223138"/>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850" i="1" noProof="0">
                <a:solidFill>
                  <a:srgbClr val="78828C"/>
                </a:solidFill>
                <a:cs typeface="Arial" pitchFamily="34" charset="0"/>
              </a:rPr>
              <a:t>Details / Links of the reference and research work</a:t>
            </a:r>
            <a:endParaRPr kumimoji="0" lang="en-US" sz="850" i="1" u="none" strike="noStrike" kern="1200" cap="none" spc="0" normalizeH="0" baseline="0" noProof="0" dirty="0">
              <a:ln>
                <a:noFill/>
              </a:ln>
              <a:solidFill>
                <a:srgbClr val="78828C"/>
              </a:solidFill>
              <a:effectLst/>
              <a:uLnTx/>
              <a:uFillTx/>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Your Team Name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57634E03-BEAE-F1F9-AE8F-5D6FA190B55E}"/>
              </a:ext>
            </a:extLst>
          </p:cNvPr>
          <p:cNvSpPr txBox="1"/>
          <p:nvPr/>
        </p:nvSpPr>
        <p:spPr>
          <a:xfrm>
            <a:off x="381000" y="1524000"/>
            <a:ext cx="11430000" cy="169277"/>
          </a:xfrm>
          <a:prstGeom prst="rect">
            <a:avLst/>
          </a:prstGeom>
          <a:noFill/>
        </p:spPr>
        <p:txBody>
          <a:bodyPr vert="horz" wrap="square" lIns="0" tIns="0" rIns="0" bIns="0" rtlCol="0" anchor="t">
            <a:spAutoFit/>
          </a:bodyPr>
          <a:lstStyle/>
          <a:p>
            <a:r>
              <a:rPr lang="en-US" sz="1100" b="1">
                <a:solidFill>
                  <a:srgbClr val="0B2545"/>
                </a:solidFill>
              </a:rPr>
              <a:t>REFERABLE DR (ICDR 2+) — PUBLISHED SYSTEMS AND THIS BUILD</a:t>
            </a:r>
            <a:endParaRPr lang="en-IN" sz="1100" b="1">
              <a:solidFill>
                <a:srgbClr val="0B2545"/>
              </a:solidFill>
            </a:endParaRPr>
          </a:p>
        </p:txBody>
      </p:sp>
      <p:graphicFrame>
        <p:nvGraphicFramePr>
          <p:cNvPr id="3" name="Table 2">
            <a:extLst>
              <a:ext uri="{FF2B5EF4-FFF2-40B4-BE49-F238E27FC236}">
                <a16:creationId xmlns:a16="http://schemas.microsoft.com/office/drawing/2014/main" id="{5B9E44E1-F68E-D3C4-C7CD-1A3BFFBDD9F8}"/>
              </a:ext>
            </a:extLst>
          </p:cNvPr>
          <p:cNvGraphicFramePr>
            <a:graphicFrameLocks noGrp="1"/>
          </p:cNvGraphicFramePr>
          <p:nvPr>
            <p:extLst>
              <p:ext uri="{D42A27DB-BD31-4B8C-83A1-F6EECF244321}">
                <p14:modId xmlns:p14="http://schemas.microsoft.com/office/powerpoint/2010/main" val="8890993"/>
              </p:ext>
            </p:extLst>
          </p:nvPr>
        </p:nvGraphicFramePr>
        <p:xfrm>
          <a:off x="381000" y="1778000"/>
          <a:ext cx="11430000" cy="1676400"/>
        </p:xfrm>
        <a:graphic>
          <a:graphicData uri="http://schemas.openxmlformats.org/drawingml/2006/table">
            <a:tbl>
              <a:tblPr firstRow="1" bandRow="1">
                <a:tableStyleId>{5C22544A-7EE6-4342-B048-85BDC9FD1C3A}</a:tableStyleId>
              </a:tblPr>
              <a:tblGrid>
                <a:gridCol w="2921000">
                  <a:extLst>
                    <a:ext uri="{9D8B030D-6E8A-4147-A177-3AD203B41FA5}">
                      <a16:colId xmlns:a16="http://schemas.microsoft.com/office/drawing/2014/main" val="3806084979"/>
                    </a:ext>
                  </a:extLst>
                </a:gridCol>
                <a:gridCol w="2159000">
                  <a:extLst>
                    <a:ext uri="{9D8B030D-6E8A-4147-A177-3AD203B41FA5}">
                      <a16:colId xmlns:a16="http://schemas.microsoft.com/office/drawing/2014/main" val="1222862988"/>
                    </a:ext>
                  </a:extLst>
                </a:gridCol>
                <a:gridCol w="1397000">
                  <a:extLst>
                    <a:ext uri="{9D8B030D-6E8A-4147-A177-3AD203B41FA5}">
                      <a16:colId xmlns:a16="http://schemas.microsoft.com/office/drawing/2014/main" val="2005046540"/>
                    </a:ext>
                  </a:extLst>
                </a:gridCol>
                <a:gridCol w="1397000">
                  <a:extLst>
                    <a:ext uri="{9D8B030D-6E8A-4147-A177-3AD203B41FA5}">
                      <a16:colId xmlns:a16="http://schemas.microsoft.com/office/drawing/2014/main" val="1160713522"/>
                    </a:ext>
                  </a:extLst>
                </a:gridCol>
                <a:gridCol w="3556000">
                  <a:extLst>
                    <a:ext uri="{9D8B030D-6E8A-4147-A177-3AD203B41FA5}">
                      <a16:colId xmlns:a16="http://schemas.microsoft.com/office/drawing/2014/main" val="901612658"/>
                    </a:ext>
                  </a:extLst>
                </a:gridCol>
              </a:tblGrid>
              <a:tr h="279400">
                <a:tc>
                  <a:txBody>
                    <a:bodyPr/>
                    <a:lstStyle/>
                    <a:p>
                      <a:r>
                        <a:rPr lang="en-IN" sz="850" b="1">
                          <a:solidFill>
                            <a:srgbClr val="FFFFFF"/>
                          </a:solidFill>
                          <a:latin typeface="Calibri" panose="020F0502020204030204" pitchFamily="34" charset="0"/>
                        </a:rPr>
                        <a:t>System</a:t>
                      </a:r>
                    </a:p>
                  </a:txBody>
                  <a:tcPr marL="63500" marT="12700" marB="12700">
                    <a:lnL w="12700" cmpd="sng">
                      <a:solidFill>
                        <a:srgbClr val="EDF0F2"/>
                      </a:solidFill>
                    </a:lnL>
                    <a:lnR w="12700" cmpd="sng">
                      <a:solidFill>
                        <a:srgbClr val="EDF0F2"/>
                      </a:solidFill>
                    </a:lnR>
                    <a:lnT w="12700" cmpd="sng">
                      <a:solidFill>
                        <a:srgbClr val="EDF0F2"/>
                      </a:solidFill>
                    </a:lnT>
                    <a:lnB w="38100" cmpd="sng">
                      <a:solidFill>
                        <a:srgbClr val="EDF0F2"/>
                      </a:solidFill>
                    </a:lnB>
                    <a:solidFill>
                      <a:srgbClr val="0B2545"/>
                    </a:solidFill>
                  </a:tcPr>
                </a:tc>
                <a:tc>
                  <a:txBody>
                    <a:bodyPr/>
                    <a:lstStyle/>
                    <a:p>
                      <a:r>
                        <a:rPr lang="en-IN" sz="850" b="1">
                          <a:solidFill>
                            <a:srgbClr val="FFFFFF"/>
                          </a:solidFill>
                          <a:latin typeface="Calibri" panose="020F0502020204030204" pitchFamily="34" charset="0"/>
                        </a:rPr>
                        <a:t>Dataset</a:t>
                      </a:r>
                    </a:p>
                  </a:txBody>
                  <a:tcPr marL="63500" marT="12700" marB="12700">
                    <a:lnL w="12700" cmpd="sng">
                      <a:solidFill>
                        <a:srgbClr val="EDF0F2"/>
                      </a:solidFill>
                    </a:lnL>
                    <a:lnR w="12700" cmpd="sng">
                      <a:solidFill>
                        <a:srgbClr val="EDF0F2"/>
                      </a:solidFill>
                    </a:lnR>
                    <a:lnT w="12700" cmpd="sng">
                      <a:solidFill>
                        <a:srgbClr val="EDF0F2"/>
                      </a:solidFill>
                    </a:lnT>
                    <a:lnB w="38100" cmpd="sng">
                      <a:solidFill>
                        <a:srgbClr val="EDF0F2"/>
                      </a:solidFill>
                    </a:lnB>
                    <a:solidFill>
                      <a:srgbClr val="0B2545"/>
                    </a:solidFill>
                  </a:tcPr>
                </a:tc>
                <a:tc>
                  <a:txBody>
                    <a:bodyPr/>
                    <a:lstStyle/>
                    <a:p>
                      <a:r>
                        <a:rPr lang="en-IN" sz="850" b="1">
                          <a:solidFill>
                            <a:srgbClr val="FFFFFF"/>
                          </a:solidFill>
                          <a:latin typeface="Calibri" panose="020F0502020204030204" pitchFamily="34" charset="0"/>
                        </a:rPr>
                        <a:t>Sensitivity</a:t>
                      </a:r>
                    </a:p>
                  </a:txBody>
                  <a:tcPr marL="63500" marT="12700" marB="12700">
                    <a:lnL w="12700" cmpd="sng">
                      <a:solidFill>
                        <a:srgbClr val="EDF0F2"/>
                      </a:solidFill>
                    </a:lnL>
                    <a:lnR w="12700" cmpd="sng">
                      <a:solidFill>
                        <a:srgbClr val="EDF0F2"/>
                      </a:solidFill>
                    </a:lnR>
                    <a:lnT w="12700" cmpd="sng">
                      <a:solidFill>
                        <a:srgbClr val="EDF0F2"/>
                      </a:solidFill>
                    </a:lnT>
                    <a:lnB w="38100" cmpd="sng">
                      <a:solidFill>
                        <a:srgbClr val="EDF0F2"/>
                      </a:solidFill>
                    </a:lnB>
                    <a:solidFill>
                      <a:srgbClr val="0B2545"/>
                    </a:solidFill>
                  </a:tcPr>
                </a:tc>
                <a:tc>
                  <a:txBody>
                    <a:bodyPr/>
                    <a:lstStyle/>
                    <a:p>
                      <a:r>
                        <a:rPr lang="en-IN" sz="850" b="1">
                          <a:solidFill>
                            <a:srgbClr val="FFFFFF"/>
                          </a:solidFill>
                          <a:latin typeface="Calibri" panose="020F0502020204030204" pitchFamily="34" charset="0"/>
                        </a:rPr>
                        <a:t>Specificity</a:t>
                      </a:r>
                    </a:p>
                  </a:txBody>
                  <a:tcPr marL="63500" marT="12700" marB="12700">
                    <a:lnL w="12700" cmpd="sng">
                      <a:solidFill>
                        <a:srgbClr val="EDF0F2"/>
                      </a:solidFill>
                    </a:lnL>
                    <a:lnR w="12700" cmpd="sng">
                      <a:solidFill>
                        <a:srgbClr val="EDF0F2"/>
                      </a:solidFill>
                    </a:lnR>
                    <a:lnT w="12700" cmpd="sng">
                      <a:solidFill>
                        <a:srgbClr val="EDF0F2"/>
                      </a:solidFill>
                    </a:lnT>
                    <a:lnB w="38100" cmpd="sng">
                      <a:solidFill>
                        <a:srgbClr val="EDF0F2"/>
                      </a:solidFill>
                    </a:lnB>
                    <a:solidFill>
                      <a:srgbClr val="0B2545"/>
                    </a:solidFill>
                  </a:tcPr>
                </a:tc>
                <a:tc>
                  <a:txBody>
                    <a:bodyPr/>
                    <a:lstStyle/>
                    <a:p>
                      <a:r>
                        <a:rPr lang="en-IN" sz="850" b="1">
                          <a:solidFill>
                            <a:srgbClr val="FFFFFF"/>
                          </a:solidFill>
                          <a:latin typeface="Calibri" panose="020F0502020204030204" pitchFamily="34" charset="0"/>
                        </a:rPr>
                        <a:t>Source</a:t>
                      </a:r>
                    </a:p>
                  </a:txBody>
                  <a:tcPr marL="63500" marT="12700" marB="12700">
                    <a:lnL w="12700" cmpd="sng">
                      <a:solidFill>
                        <a:srgbClr val="EDF0F2"/>
                      </a:solidFill>
                    </a:lnL>
                    <a:lnR w="12700" cmpd="sng">
                      <a:solidFill>
                        <a:srgbClr val="EDF0F2"/>
                      </a:solidFill>
                    </a:lnR>
                    <a:lnT w="12700" cmpd="sng">
                      <a:solidFill>
                        <a:srgbClr val="EDF0F2"/>
                      </a:solidFill>
                    </a:lnT>
                    <a:lnB w="38100" cmpd="sng">
                      <a:solidFill>
                        <a:srgbClr val="EDF0F2"/>
                      </a:solidFill>
                    </a:lnB>
                    <a:solidFill>
                      <a:srgbClr val="0B2545"/>
                    </a:solidFill>
                  </a:tcPr>
                </a:tc>
                <a:extLst>
                  <a:ext uri="{0D108BD9-81ED-4DB2-BD59-A6C34878D82A}">
                    <a16:rowId xmlns:a16="http://schemas.microsoft.com/office/drawing/2014/main" val="1598832103"/>
                  </a:ext>
                </a:extLst>
              </a:tr>
              <a:tr h="279400">
                <a:tc>
                  <a:txBody>
                    <a:bodyPr/>
                    <a:lstStyle/>
                    <a:p>
                      <a:r>
                        <a:rPr lang="en-IN" sz="850">
                          <a:solidFill>
                            <a:srgbClr val="0B2545"/>
                          </a:solidFill>
                          <a:latin typeface="Calibri" panose="020F0502020204030204" pitchFamily="34" charset="0"/>
                        </a:rPr>
                        <a:t>Gulshan et al. 2016 (Google)</a:t>
                      </a:r>
                    </a:p>
                  </a:txBody>
                  <a:tcPr marL="63500" marT="12700" marB="12700">
                    <a:lnL w="12700" cmpd="sng">
                      <a:solidFill>
                        <a:srgbClr val="EDF0F2"/>
                      </a:solidFill>
                    </a:lnL>
                    <a:lnR w="12700" cmpd="sng">
                      <a:solidFill>
                        <a:srgbClr val="EDF0F2"/>
                      </a:solidFill>
                    </a:lnR>
                    <a:lnT w="38100" cmpd="sng">
                      <a:solidFill>
                        <a:srgbClr val="EDF0F2"/>
                      </a:solidFill>
                    </a:lnT>
                    <a:lnB w="12700" cmpd="sng">
                      <a:solidFill>
                        <a:srgbClr val="EDF0F2"/>
                      </a:solidFill>
                    </a:lnB>
                    <a:solidFill>
                      <a:srgbClr val="FFFFFF"/>
                    </a:solidFill>
                  </a:tcPr>
                </a:tc>
                <a:tc>
                  <a:txBody>
                    <a:bodyPr/>
                    <a:lstStyle/>
                    <a:p>
                      <a:r>
                        <a:rPr lang="en-IN" sz="850">
                          <a:solidFill>
                            <a:srgbClr val="0B2545"/>
                          </a:solidFill>
                          <a:latin typeface="Calibri" panose="020F0502020204030204" pitchFamily="34" charset="0"/>
                        </a:rPr>
                        <a:t>EyePACS-1</a:t>
                      </a:r>
                    </a:p>
                  </a:txBody>
                  <a:tcPr marL="63500" marT="12700" marB="12700">
                    <a:lnL w="12700" cmpd="sng">
                      <a:solidFill>
                        <a:srgbClr val="EDF0F2"/>
                      </a:solidFill>
                    </a:lnL>
                    <a:lnR w="12700" cmpd="sng">
                      <a:solidFill>
                        <a:srgbClr val="EDF0F2"/>
                      </a:solidFill>
                    </a:lnR>
                    <a:lnT w="38100" cmpd="sng">
                      <a:solidFill>
                        <a:srgbClr val="EDF0F2"/>
                      </a:solidFill>
                    </a:lnT>
                    <a:lnB w="12700" cmpd="sng">
                      <a:solidFill>
                        <a:srgbClr val="EDF0F2"/>
                      </a:solidFill>
                    </a:lnB>
                    <a:solidFill>
                      <a:srgbClr val="FFFFFF"/>
                    </a:solidFill>
                  </a:tcPr>
                </a:tc>
                <a:tc>
                  <a:txBody>
                    <a:bodyPr/>
                    <a:lstStyle/>
                    <a:p>
                      <a:r>
                        <a:rPr lang="en-IN" sz="850">
                          <a:solidFill>
                            <a:srgbClr val="0B2545"/>
                          </a:solidFill>
                          <a:latin typeface="Calibri" panose="020F0502020204030204" pitchFamily="34" charset="0"/>
                        </a:rPr>
                        <a:t>90.3%</a:t>
                      </a:r>
                    </a:p>
                  </a:txBody>
                  <a:tcPr marL="63500" marT="12700" marB="12700">
                    <a:lnL w="12700" cmpd="sng">
                      <a:solidFill>
                        <a:srgbClr val="EDF0F2"/>
                      </a:solidFill>
                    </a:lnL>
                    <a:lnR w="12700" cmpd="sng">
                      <a:solidFill>
                        <a:srgbClr val="EDF0F2"/>
                      </a:solidFill>
                    </a:lnR>
                    <a:lnT w="38100" cmpd="sng">
                      <a:solidFill>
                        <a:srgbClr val="EDF0F2"/>
                      </a:solidFill>
                    </a:lnT>
                    <a:lnB w="12700" cmpd="sng">
                      <a:solidFill>
                        <a:srgbClr val="EDF0F2"/>
                      </a:solidFill>
                    </a:lnB>
                    <a:solidFill>
                      <a:srgbClr val="FFFFFF"/>
                    </a:solidFill>
                  </a:tcPr>
                </a:tc>
                <a:tc>
                  <a:txBody>
                    <a:bodyPr/>
                    <a:lstStyle/>
                    <a:p>
                      <a:r>
                        <a:rPr lang="en-IN" sz="850">
                          <a:solidFill>
                            <a:srgbClr val="0B2545"/>
                          </a:solidFill>
                          <a:latin typeface="Calibri" panose="020F0502020204030204" pitchFamily="34" charset="0"/>
                        </a:rPr>
                        <a:t>98.1%</a:t>
                      </a:r>
                    </a:p>
                  </a:txBody>
                  <a:tcPr marL="63500" marT="12700" marB="12700">
                    <a:lnL w="12700" cmpd="sng">
                      <a:solidFill>
                        <a:srgbClr val="EDF0F2"/>
                      </a:solidFill>
                    </a:lnL>
                    <a:lnR w="12700" cmpd="sng">
                      <a:solidFill>
                        <a:srgbClr val="EDF0F2"/>
                      </a:solidFill>
                    </a:lnR>
                    <a:lnT w="38100" cmpd="sng">
                      <a:solidFill>
                        <a:srgbClr val="EDF0F2"/>
                      </a:solidFill>
                    </a:lnT>
                    <a:lnB w="12700" cmpd="sng">
                      <a:solidFill>
                        <a:srgbClr val="EDF0F2"/>
                      </a:solidFill>
                    </a:lnB>
                    <a:solidFill>
                      <a:srgbClr val="FFFFFF"/>
                    </a:solidFill>
                  </a:tcPr>
                </a:tc>
                <a:tc>
                  <a:txBody>
                    <a:bodyPr/>
                    <a:lstStyle/>
                    <a:p>
                      <a:r>
                        <a:rPr lang="en-IN" sz="850">
                          <a:solidFill>
                            <a:srgbClr val="0B2545"/>
                          </a:solidFill>
                          <a:latin typeface="Calibri" panose="020F0502020204030204" pitchFamily="34" charset="0"/>
                        </a:rPr>
                        <a:t>JAMA 316(22):2402</a:t>
                      </a:r>
                    </a:p>
                  </a:txBody>
                  <a:tcPr marL="63500" marT="12700" marB="12700">
                    <a:lnL w="12700" cmpd="sng">
                      <a:solidFill>
                        <a:srgbClr val="EDF0F2"/>
                      </a:solidFill>
                    </a:lnL>
                    <a:lnR w="12700" cmpd="sng">
                      <a:solidFill>
                        <a:srgbClr val="EDF0F2"/>
                      </a:solidFill>
                    </a:lnR>
                    <a:lnT w="38100" cmpd="sng">
                      <a:solidFill>
                        <a:srgbClr val="EDF0F2"/>
                      </a:solidFill>
                    </a:lnT>
                    <a:lnB w="12700" cmpd="sng">
                      <a:solidFill>
                        <a:srgbClr val="EDF0F2"/>
                      </a:solidFill>
                    </a:lnB>
                    <a:solidFill>
                      <a:srgbClr val="FFFFFF"/>
                    </a:solidFill>
                  </a:tcPr>
                </a:tc>
                <a:extLst>
                  <a:ext uri="{0D108BD9-81ED-4DB2-BD59-A6C34878D82A}">
                    <a16:rowId xmlns:a16="http://schemas.microsoft.com/office/drawing/2014/main" val="2435476866"/>
                  </a:ext>
                </a:extLst>
              </a:tr>
              <a:tr h="279400">
                <a:tc>
                  <a:txBody>
                    <a:bodyPr/>
                    <a:lstStyle/>
                    <a:p>
                      <a:r>
                        <a:rPr lang="en-IN" sz="850">
                          <a:solidFill>
                            <a:srgbClr val="0B2545"/>
                          </a:solidFill>
                          <a:latin typeface="Calibri" panose="020F0502020204030204" pitchFamily="34" charset="0"/>
                        </a:rPr>
                        <a:t>Gulshan et al. 2016</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850">
                          <a:solidFill>
                            <a:srgbClr val="0B2545"/>
                          </a:solidFill>
                          <a:latin typeface="Calibri" panose="020F0502020204030204" pitchFamily="34" charset="0"/>
                        </a:rPr>
                        <a:t>Messidor-2</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850">
                          <a:solidFill>
                            <a:srgbClr val="0B2545"/>
                          </a:solidFill>
                          <a:latin typeface="Calibri" panose="020F0502020204030204" pitchFamily="34" charset="0"/>
                        </a:rPr>
                        <a:t>96.1%</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850">
                          <a:solidFill>
                            <a:srgbClr val="0B2545"/>
                          </a:solidFill>
                          <a:latin typeface="Calibri" panose="020F0502020204030204" pitchFamily="34" charset="0"/>
                        </a:rPr>
                        <a:t>93.9%</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850">
                          <a:solidFill>
                            <a:srgbClr val="0B2545"/>
                          </a:solidFill>
                          <a:latin typeface="Calibri" panose="020F0502020204030204" pitchFamily="34" charset="0"/>
                        </a:rPr>
                        <a:t>high-sensitivity point</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extLst>
                  <a:ext uri="{0D108BD9-81ED-4DB2-BD59-A6C34878D82A}">
                    <a16:rowId xmlns:a16="http://schemas.microsoft.com/office/drawing/2014/main" val="165607773"/>
                  </a:ext>
                </a:extLst>
              </a:tr>
              <a:tr h="279400">
                <a:tc>
                  <a:txBody>
                    <a:bodyPr/>
                    <a:lstStyle/>
                    <a:p>
                      <a:r>
                        <a:rPr lang="en-IN" sz="850">
                          <a:solidFill>
                            <a:srgbClr val="0B2545"/>
                          </a:solidFill>
                          <a:latin typeface="Calibri" panose="020F0502020204030204" pitchFamily="34" charset="0"/>
                        </a:rPr>
                        <a:t>IDx-DR pivotal (Abràmoff 2018)</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tc>
                  <a:txBody>
                    <a:bodyPr/>
                    <a:lstStyle/>
                    <a:p>
                      <a:r>
                        <a:rPr lang="en-IN" sz="850">
                          <a:solidFill>
                            <a:srgbClr val="0B2545"/>
                          </a:solidFill>
                          <a:latin typeface="Calibri" panose="020F0502020204030204" pitchFamily="34" charset="0"/>
                        </a:rPr>
                        <a:t>900 primary-care</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tc>
                  <a:txBody>
                    <a:bodyPr/>
                    <a:lstStyle/>
                    <a:p>
                      <a:r>
                        <a:rPr lang="en-IN" sz="850">
                          <a:solidFill>
                            <a:srgbClr val="0B2545"/>
                          </a:solidFill>
                          <a:latin typeface="Calibri" panose="020F0502020204030204" pitchFamily="34" charset="0"/>
                        </a:rPr>
                        <a:t>87.2%</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tc>
                  <a:txBody>
                    <a:bodyPr/>
                    <a:lstStyle/>
                    <a:p>
                      <a:r>
                        <a:rPr lang="en-IN" sz="850">
                          <a:solidFill>
                            <a:srgbClr val="0B2545"/>
                          </a:solidFill>
                          <a:latin typeface="Calibri" panose="020F0502020204030204" pitchFamily="34" charset="0"/>
                        </a:rPr>
                        <a:t>90.7%</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tc>
                  <a:txBody>
                    <a:bodyPr/>
                    <a:lstStyle/>
                    <a:p>
                      <a:r>
                        <a:rPr lang="en-IN" sz="850">
                          <a:solidFill>
                            <a:srgbClr val="0B2545"/>
                          </a:solidFill>
                          <a:latin typeface="Calibri" panose="020F0502020204030204" pitchFamily="34" charset="0"/>
                        </a:rPr>
                        <a:t>npj Digital Med 1:39</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FFFFFF"/>
                    </a:solidFill>
                  </a:tcPr>
                </a:tc>
                <a:extLst>
                  <a:ext uri="{0D108BD9-81ED-4DB2-BD59-A6C34878D82A}">
                    <a16:rowId xmlns:a16="http://schemas.microsoft.com/office/drawing/2014/main" val="4207801354"/>
                  </a:ext>
                </a:extLst>
              </a:tr>
              <a:tr h="279400">
                <a:tc>
                  <a:txBody>
                    <a:bodyPr/>
                    <a:lstStyle/>
                    <a:p>
                      <a:r>
                        <a:rPr lang="en-IN" sz="850" i="1">
                          <a:solidFill>
                            <a:srgbClr val="0B2545"/>
                          </a:solidFill>
                          <a:latin typeface="Calibri" panose="020F0502020204030204" pitchFamily="34" charset="0"/>
                        </a:rPr>
                        <a:t>PS 26038 requirement</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850" i="1">
                          <a:solidFill>
                            <a:srgbClr val="0B2545"/>
                          </a:solidFill>
                          <a:latin typeface="Calibri" panose="020F0502020204030204" pitchFamily="34" charset="0"/>
                        </a:rPr>
                        <a:t>referable DR</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850" i="1">
                          <a:solidFill>
                            <a:srgbClr val="0B2545"/>
                          </a:solidFill>
                          <a:latin typeface="Calibri" panose="020F0502020204030204" pitchFamily="34" charset="0"/>
                        </a:rPr>
                        <a:t>&gt; 90%</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850" i="1">
                          <a:solidFill>
                            <a:srgbClr val="0B2545"/>
                          </a:solidFill>
                          <a:latin typeface="Calibri" panose="020F0502020204030204" pitchFamily="34" charset="0"/>
                        </a:rPr>
                        <a:t>&gt; 85%</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tc>
                  <a:txBody>
                    <a:bodyPr/>
                    <a:lstStyle/>
                    <a:p>
                      <a:r>
                        <a:rPr lang="en-IN" sz="850" i="1">
                          <a:solidFill>
                            <a:srgbClr val="0B2545"/>
                          </a:solidFill>
                          <a:latin typeface="Calibri" panose="020F0502020204030204" pitchFamily="34" charset="0"/>
                        </a:rPr>
                        <a:t>the problem statement</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DF0F2"/>
                    </a:solidFill>
                  </a:tcPr>
                </a:tc>
                <a:extLst>
                  <a:ext uri="{0D108BD9-81ED-4DB2-BD59-A6C34878D82A}">
                    <a16:rowId xmlns:a16="http://schemas.microsoft.com/office/drawing/2014/main" val="146036720"/>
                  </a:ext>
                </a:extLst>
              </a:tr>
              <a:tr h="279400">
                <a:tc>
                  <a:txBody>
                    <a:bodyPr/>
                    <a:lstStyle/>
                    <a:p>
                      <a:r>
                        <a:rPr lang="en-IN" sz="850" b="1">
                          <a:solidFill>
                            <a:srgbClr val="0B2545"/>
                          </a:solidFill>
                          <a:latin typeface="Calibri" panose="020F0502020204030204" pitchFamily="34" charset="0"/>
                        </a:rPr>
                        <a:t>NETRA (this build)</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0F0F1"/>
                    </a:solidFill>
                  </a:tcPr>
                </a:tc>
                <a:tc>
                  <a:txBody>
                    <a:bodyPr/>
                    <a:lstStyle/>
                    <a:p>
                      <a:r>
                        <a:rPr lang="en-IN" sz="850" b="1">
                          <a:solidFill>
                            <a:srgbClr val="0B2545"/>
                          </a:solidFill>
                          <a:latin typeface="Calibri" panose="020F0502020204030204" pitchFamily="34" charset="0"/>
                        </a:rPr>
                        <a:t>APTOS held-out, n = 549</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0F0F1"/>
                    </a:solidFill>
                  </a:tcPr>
                </a:tc>
                <a:tc>
                  <a:txBody>
                    <a:bodyPr/>
                    <a:lstStyle/>
                    <a:p>
                      <a:r>
                        <a:rPr lang="en-IN" sz="850" b="1">
                          <a:solidFill>
                            <a:srgbClr val="0B2545"/>
                          </a:solidFill>
                          <a:latin typeface="Calibri" panose="020F0502020204030204" pitchFamily="34" charset="0"/>
                        </a:rPr>
                        <a:t>91.9%</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0F0F1"/>
                    </a:solidFill>
                  </a:tcPr>
                </a:tc>
                <a:tc>
                  <a:txBody>
                    <a:bodyPr/>
                    <a:lstStyle/>
                    <a:p>
                      <a:r>
                        <a:rPr lang="en-IN" sz="850" b="1">
                          <a:solidFill>
                            <a:srgbClr val="0B2545"/>
                          </a:solidFill>
                          <a:latin typeface="Calibri" panose="020F0502020204030204" pitchFamily="34" charset="0"/>
                        </a:rPr>
                        <a:t>95.4%</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0F0F1"/>
                    </a:solidFill>
                  </a:tcPr>
                </a:tc>
                <a:tc>
                  <a:txBody>
                    <a:bodyPr/>
                    <a:lstStyle/>
                    <a:p>
                      <a:r>
                        <a:rPr lang="en-IN" sz="850" b="1">
                          <a:solidFill>
                            <a:srgbClr val="0B2545"/>
                          </a:solidFill>
                          <a:latin typeface="Calibri" panose="020F0502020204030204" pitchFamily="34" charset="0"/>
                        </a:rPr>
                        <a:t>AUC 0.983 · s12_eval_grader</a:t>
                      </a:r>
                    </a:p>
                  </a:txBody>
                  <a:tcPr marL="63500" marT="12700" marB="12700">
                    <a:lnL w="12700" cmpd="sng">
                      <a:solidFill>
                        <a:srgbClr val="EDF0F2"/>
                      </a:solidFill>
                    </a:lnL>
                    <a:lnR w="12700" cmpd="sng">
                      <a:solidFill>
                        <a:srgbClr val="EDF0F2"/>
                      </a:solidFill>
                    </a:lnR>
                    <a:lnT w="12700" cmpd="sng">
                      <a:solidFill>
                        <a:srgbClr val="EDF0F2"/>
                      </a:solidFill>
                    </a:lnT>
                    <a:lnB w="12700" cmpd="sng">
                      <a:solidFill>
                        <a:srgbClr val="EDF0F2"/>
                      </a:solidFill>
                    </a:lnB>
                    <a:solidFill>
                      <a:srgbClr val="E0F0F1"/>
                    </a:solidFill>
                  </a:tcPr>
                </a:tc>
                <a:extLst>
                  <a:ext uri="{0D108BD9-81ED-4DB2-BD59-A6C34878D82A}">
                    <a16:rowId xmlns:a16="http://schemas.microsoft.com/office/drawing/2014/main" val="3051755754"/>
                  </a:ext>
                </a:extLst>
              </a:tr>
            </a:tbl>
          </a:graphicData>
        </a:graphic>
      </p:graphicFrame>
      <p:sp>
        <p:nvSpPr>
          <p:cNvPr id="4" name="TextBox 3">
            <a:extLst>
              <a:ext uri="{FF2B5EF4-FFF2-40B4-BE49-F238E27FC236}">
                <a16:creationId xmlns:a16="http://schemas.microsoft.com/office/drawing/2014/main" id="{55089C99-D534-3D62-6141-F83B2FBC4403}"/>
              </a:ext>
            </a:extLst>
          </p:cNvPr>
          <p:cNvSpPr txBox="1"/>
          <p:nvPr/>
        </p:nvSpPr>
        <p:spPr>
          <a:xfrm>
            <a:off x="381000" y="3505200"/>
            <a:ext cx="11430000" cy="276999"/>
          </a:xfrm>
          <a:prstGeom prst="rect">
            <a:avLst/>
          </a:prstGeom>
          <a:noFill/>
        </p:spPr>
        <p:txBody>
          <a:bodyPr vert="horz" wrap="square" lIns="0" tIns="0" rIns="0" bIns="0" rtlCol="0" anchor="t">
            <a:spAutoFit/>
          </a:bodyPr>
          <a:lstStyle/>
          <a:p>
            <a:r>
              <a:rPr lang="en-US" sz="900" i="1">
                <a:solidFill>
                  <a:srgbClr val="78828C"/>
                </a:solidFill>
              </a:rPr>
              <a:t>Operating point chosen on the VALIDATION split to meet sensitivity ≥ 0.90, then applied unchanged to a sealed test split — the protocol Gulshan 2016 and the IDx-DR trial both use. Different dataset from the rows above, so this is a like-for-like task, not a like-for-like benchmark.</a:t>
            </a:r>
            <a:endParaRPr lang="en-IN" sz="900" i="1">
              <a:solidFill>
                <a:srgbClr val="78828C"/>
              </a:solidFill>
            </a:endParaRPr>
          </a:p>
        </p:txBody>
      </p:sp>
      <p:sp>
        <p:nvSpPr>
          <p:cNvPr id="5" name="TextBox 4">
            <a:extLst>
              <a:ext uri="{FF2B5EF4-FFF2-40B4-BE49-F238E27FC236}">
                <a16:creationId xmlns:a16="http://schemas.microsoft.com/office/drawing/2014/main" id="{802D4D58-FDF4-2895-921B-0D7F80BE0AFE}"/>
              </a:ext>
            </a:extLst>
          </p:cNvPr>
          <p:cNvSpPr txBox="1"/>
          <p:nvPr/>
        </p:nvSpPr>
        <p:spPr>
          <a:xfrm>
            <a:off x="381000" y="3886200"/>
            <a:ext cx="11430000" cy="153888"/>
          </a:xfrm>
          <a:prstGeom prst="rect">
            <a:avLst/>
          </a:prstGeom>
          <a:noFill/>
        </p:spPr>
        <p:txBody>
          <a:bodyPr vert="horz" wrap="square" lIns="0" tIns="0" rIns="0" bIns="0" rtlCol="0" anchor="t">
            <a:spAutoFit/>
          </a:bodyPr>
          <a:lstStyle/>
          <a:p>
            <a:r>
              <a:rPr lang="en-US" sz="1000" b="1">
                <a:solidFill>
                  <a:srgbClr val="0B2545"/>
                </a:solidFill>
              </a:rPr>
              <a:t>LESION-LEVEL RESULTS — 27 SEALED IDRiD TEST IMAGES (Dice)</a:t>
            </a:r>
            <a:endParaRPr lang="en-IN" sz="1000" b="1">
              <a:solidFill>
                <a:srgbClr val="0B2545"/>
              </a:solidFill>
            </a:endParaRPr>
          </a:p>
        </p:txBody>
      </p:sp>
      <p:sp>
        <p:nvSpPr>
          <p:cNvPr id="8" name="Rectangle 7">
            <a:extLst>
              <a:ext uri="{FF2B5EF4-FFF2-40B4-BE49-F238E27FC236}">
                <a16:creationId xmlns:a16="http://schemas.microsoft.com/office/drawing/2014/main" id="{8FB18F1B-AC0A-8F45-34B5-CAEDC83B5A55}"/>
              </a:ext>
            </a:extLst>
          </p:cNvPr>
          <p:cNvSpPr/>
          <p:nvPr/>
        </p:nvSpPr>
        <p:spPr>
          <a:xfrm>
            <a:off x="381000" y="4140200"/>
            <a:ext cx="2184400" cy="5588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11" name="TextBox 10">
            <a:extLst>
              <a:ext uri="{FF2B5EF4-FFF2-40B4-BE49-F238E27FC236}">
                <a16:creationId xmlns:a16="http://schemas.microsoft.com/office/drawing/2014/main" id="{7763CDA2-E03A-57D4-A72C-DAA8E09A52F2}"/>
              </a:ext>
            </a:extLst>
          </p:cNvPr>
          <p:cNvSpPr txBox="1"/>
          <p:nvPr/>
        </p:nvSpPr>
        <p:spPr>
          <a:xfrm>
            <a:off x="457200" y="4178300"/>
            <a:ext cx="2032000" cy="215444"/>
          </a:xfrm>
          <a:prstGeom prst="rect">
            <a:avLst/>
          </a:prstGeom>
          <a:noFill/>
        </p:spPr>
        <p:txBody>
          <a:bodyPr vert="horz" wrap="square" lIns="0" tIns="0" rIns="0" bIns="0" rtlCol="0" anchor="t">
            <a:spAutoFit/>
          </a:bodyPr>
          <a:lstStyle/>
          <a:p>
            <a:pPr algn="ctr"/>
            <a:r>
              <a:rPr lang="en-IN" sz="1400" b="1">
                <a:solidFill>
                  <a:srgbClr val="0E7C86"/>
                </a:solidFill>
              </a:rPr>
              <a:t>0.732</a:t>
            </a:r>
          </a:p>
        </p:txBody>
      </p:sp>
      <p:sp>
        <p:nvSpPr>
          <p:cNvPr id="13" name="TextBox 12">
            <a:extLst>
              <a:ext uri="{FF2B5EF4-FFF2-40B4-BE49-F238E27FC236}">
                <a16:creationId xmlns:a16="http://schemas.microsoft.com/office/drawing/2014/main" id="{7F815965-B4EA-B9FC-101F-C5B7CFC84DDD}"/>
              </a:ext>
            </a:extLst>
          </p:cNvPr>
          <p:cNvSpPr txBox="1"/>
          <p:nvPr/>
        </p:nvSpPr>
        <p:spPr>
          <a:xfrm>
            <a:off x="457200" y="4432300"/>
            <a:ext cx="2032000" cy="115416"/>
          </a:xfrm>
          <a:prstGeom prst="rect">
            <a:avLst/>
          </a:prstGeom>
          <a:noFill/>
        </p:spPr>
        <p:txBody>
          <a:bodyPr vert="horz" wrap="square" lIns="0" tIns="0" rIns="0" bIns="0" rtlCol="0" anchor="t">
            <a:spAutoFit/>
          </a:bodyPr>
          <a:lstStyle/>
          <a:p>
            <a:pPr algn="ctr"/>
            <a:r>
              <a:rPr lang="en-IN" sz="750">
                <a:solidFill>
                  <a:srgbClr val="0B2545"/>
                </a:solidFill>
              </a:rPr>
              <a:t>Hard exudate</a:t>
            </a:r>
          </a:p>
        </p:txBody>
      </p:sp>
      <p:sp>
        <p:nvSpPr>
          <p:cNvPr id="14" name="Rectangle 13">
            <a:extLst>
              <a:ext uri="{FF2B5EF4-FFF2-40B4-BE49-F238E27FC236}">
                <a16:creationId xmlns:a16="http://schemas.microsoft.com/office/drawing/2014/main" id="{877ACBB7-2670-8BD6-048F-DE321CE3D2B6}"/>
              </a:ext>
            </a:extLst>
          </p:cNvPr>
          <p:cNvSpPr/>
          <p:nvPr/>
        </p:nvSpPr>
        <p:spPr>
          <a:xfrm>
            <a:off x="2692400" y="4140200"/>
            <a:ext cx="2184400" cy="5588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15" name="TextBox 14">
            <a:extLst>
              <a:ext uri="{FF2B5EF4-FFF2-40B4-BE49-F238E27FC236}">
                <a16:creationId xmlns:a16="http://schemas.microsoft.com/office/drawing/2014/main" id="{3E761048-7E1D-93D5-207D-FFCB971FCAA3}"/>
              </a:ext>
            </a:extLst>
          </p:cNvPr>
          <p:cNvSpPr txBox="1"/>
          <p:nvPr/>
        </p:nvSpPr>
        <p:spPr>
          <a:xfrm>
            <a:off x="2768600" y="4178300"/>
            <a:ext cx="2032000" cy="215444"/>
          </a:xfrm>
          <a:prstGeom prst="rect">
            <a:avLst/>
          </a:prstGeom>
          <a:noFill/>
        </p:spPr>
        <p:txBody>
          <a:bodyPr vert="horz" wrap="square" lIns="0" tIns="0" rIns="0" bIns="0" rtlCol="0" anchor="t">
            <a:spAutoFit/>
          </a:bodyPr>
          <a:lstStyle/>
          <a:p>
            <a:pPr algn="ctr"/>
            <a:r>
              <a:rPr lang="en-IN" sz="1400" b="1">
                <a:solidFill>
                  <a:srgbClr val="0E7C86"/>
                </a:solidFill>
              </a:rPr>
              <a:t>0.590</a:t>
            </a:r>
          </a:p>
        </p:txBody>
      </p:sp>
      <p:sp>
        <p:nvSpPr>
          <p:cNvPr id="16" name="TextBox 15">
            <a:extLst>
              <a:ext uri="{FF2B5EF4-FFF2-40B4-BE49-F238E27FC236}">
                <a16:creationId xmlns:a16="http://schemas.microsoft.com/office/drawing/2014/main" id="{A91CF58E-EF1F-682A-CA12-0E7D71ACD020}"/>
              </a:ext>
            </a:extLst>
          </p:cNvPr>
          <p:cNvSpPr txBox="1"/>
          <p:nvPr/>
        </p:nvSpPr>
        <p:spPr>
          <a:xfrm>
            <a:off x="2768600" y="4432300"/>
            <a:ext cx="2032000" cy="115416"/>
          </a:xfrm>
          <a:prstGeom prst="rect">
            <a:avLst/>
          </a:prstGeom>
          <a:noFill/>
        </p:spPr>
        <p:txBody>
          <a:bodyPr vert="horz" wrap="square" lIns="0" tIns="0" rIns="0" bIns="0" rtlCol="0" anchor="t">
            <a:spAutoFit/>
          </a:bodyPr>
          <a:lstStyle/>
          <a:p>
            <a:pPr algn="ctr"/>
            <a:r>
              <a:rPr lang="en-IN" sz="750">
                <a:solidFill>
                  <a:srgbClr val="0B2545"/>
                </a:solidFill>
              </a:rPr>
              <a:t>Haemorrhage</a:t>
            </a:r>
          </a:p>
        </p:txBody>
      </p:sp>
      <p:sp>
        <p:nvSpPr>
          <p:cNvPr id="17" name="Rectangle 16">
            <a:extLst>
              <a:ext uri="{FF2B5EF4-FFF2-40B4-BE49-F238E27FC236}">
                <a16:creationId xmlns:a16="http://schemas.microsoft.com/office/drawing/2014/main" id="{E04F930D-57C4-3304-2399-847F1C3DDAF5}"/>
              </a:ext>
            </a:extLst>
          </p:cNvPr>
          <p:cNvSpPr/>
          <p:nvPr/>
        </p:nvSpPr>
        <p:spPr>
          <a:xfrm>
            <a:off x="5003800" y="4140200"/>
            <a:ext cx="2184400" cy="5588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18" name="TextBox 17">
            <a:extLst>
              <a:ext uri="{FF2B5EF4-FFF2-40B4-BE49-F238E27FC236}">
                <a16:creationId xmlns:a16="http://schemas.microsoft.com/office/drawing/2014/main" id="{8E9BF416-5388-27A5-99C0-32D7B7607CCE}"/>
              </a:ext>
            </a:extLst>
          </p:cNvPr>
          <p:cNvSpPr txBox="1"/>
          <p:nvPr/>
        </p:nvSpPr>
        <p:spPr>
          <a:xfrm>
            <a:off x="5080000" y="4178300"/>
            <a:ext cx="2032000" cy="215444"/>
          </a:xfrm>
          <a:prstGeom prst="rect">
            <a:avLst/>
          </a:prstGeom>
          <a:noFill/>
        </p:spPr>
        <p:txBody>
          <a:bodyPr vert="horz" wrap="square" lIns="0" tIns="0" rIns="0" bIns="0" rtlCol="0" anchor="t">
            <a:spAutoFit/>
          </a:bodyPr>
          <a:lstStyle/>
          <a:p>
            <a:pPr algn="ctr"/>
            <a:r>
              <a:rPr lang="en-IN" sz="1400" b="1">
                <a:solidFill>
                  <a:srgbClr val="0E7C86"/>
                </a:solidFill>
              </a:rPr>
              <a:t>0.546</a:t>
            </a:r>
          </a:p>
        </p:txBody>
      </p:sp>
      <p:sp>
        <p:nvSpPr>
          <p:cNvPr id="19" name="TextBox 18">
            <a:extLst>
              <a:ext uri="{FF2B5EF4-FFF2-40B4-BE49-F238E27FC236}">
                <a16:creationId xmlns:a16="http://schemas.microsoft.com/office/drawing/2014/main" id="{163412F5-201F-5F73-5AD9-6E4DF11619AA}"/>
              </a:ext>
            </a:extLst>
          </p:cNvPr>
          <p:cNvSpPr txBox="1"/>
          <p:nvPr/>
        </p:nvSpPr>
        <p:spPr>
          <a:xfrm>
            <a:off x="5080000" y="4432300"/>
            <a:ext cx="2032000" cy="115416"/>
          </a:xfrm>
          <a:prstGeom prst="rect">
            <a:avLst/>
          </a:prstGeom>
          <a:noFill/>
        </p:spPr>
        <p:txBody>
          <a:bodyPr vert="horz" wrap="square" lIns="0" tIns="0" rIns="0" bIns="0" rtlCol="0" anchor="t">
            <a:spAutoFit/>
          </a:bodyPr>
          <a:lstStyle/>
          <a:p>
            <a:pPr algn="ctr"/>
            <a:r>
              <a:rPr lang="en-IN" sz="750">
                <a:solidFill>
                  <a:srgbClr val="0B2545"/>
                </a:solidFill>
              </a:rPr>
              <a:t>Soft exudate</a:t>
            </a:r>
          </a:p>
        </p:txBody>
      </p:sp>
      <p:sp>
        <p:nvSpPr>
          <p:cNvPr id="20" name="Rectangle 19">
            <a:extLst>
              <a:ext uri="{FF2B5EF4-FFF2-40B4-BE49-F238E27FC236}">
                <a16:creationId xmlns:a16="http://schemas.microsoft.com/office/drawing/2014/main" id="{A3CB0C84-7D70-246F-CCA2-539EFBE434F7}"/>
              </a:ext>
            </a:extLst>
          </p:cNvPr>
          <p:cNvSpPr/>
          <p:nvPr/>
        </p:nvSpPr>
        <p:spPr>
          <a:xfrm>
            <a:off x="7315200" y="4140200"/>
            <a:ext cx="2184400" cy="5588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21" name="TextBox 20">
            <a:extLst>
              <a:ext uri="{FF2B5EF4-FFF2-40B4-BE49-F238E27FC236}">
                <a16:creationId xmlns:a16="http://schemas.microsoft.com/office/drawing/2014/main" id="{0875BF41-FC65-A1B2-B3C8-96649CD944F0}"/>
              </a:ext>
            </a:extLst>
          </p:cNvPr>
          <p:cNvSpPr txBox="1"/>
          <p:nvPr/>
        </p:nvSpPr>
        <p:spPr>
          <a:xfrm>
            <a:off x="7391400" y="4178300"/>
            <a:ext cx="2032000" cy="215444"/>
          </a:xfrm>
          <a:prstGeom prst="rect">
            <a:avLst/>
          </a:prstGeom>
          <a:noFill/>
        </p:spPr>
        <p:txBody>
          <a:bodyPr vert="horz" wrap="square" lIns="0" tIns="0" rIns="0" bIns="0" rtlCol="0" anchor="t">
            <a:spAutoFit/>
          </a:bodyPr>
          <a:lstStyle/>
          <a:p>
            <a:pPr algn="ctr"/>
            <a:r>
              <a:rPr lang="en-IN" sz="1400" b="1">
                <a:solidFill>
                  <a:srgbClr val="0E7C86"/>
                </a:solidFill>
              </a:rPr>
              <a:t>0.519</a:t>
            </a:r>
          </a:p>
        </p:txBody>
      </p:sp>
      <p:sp>
        <p:nvSpPr>
          <p:cNvPr id="22" name="TextBox 21">
            <a:extLst>
              <a:ext uri="{FF2B5EF4-FFF2-40B4-BE49-F238E27FC236}">
                <a16:creationId xmlns:a16="http://schemas.microsoft.com/office/drawing/2014/main" id="{FB0010DA-10C7-CFB7-A609-4896013171A3}"/>
              </a:ext>
            </a:extLst>
          </p:cNvPr>
          <p:cNvSpPr txBox="1"/>
          <p:nvPr/>
        </p:nvSpPr>
        <p:spPr>
          <a:xfrm>
            <a:off x="7391400" y="4432300"/>
            <a:ext cx="2032000" cy="115416"/>
          </a:xfrm>
          <a:prstGeom prst="rect">
            <a:avLst/>
          </a:prstGeom>
          <a:noFill/>
        </p:spPr>
        <p:txBody>
          <a:bodyPr vert="horz" wrap="square" lIns="0" tIns="0" rIns="0" bIns="0" rtlCol="0" anchor="t">
            <a:spAutoFit/>
          </a:bodyPr>
          <a:lstStyle/>
          <a:p>
            <a:pPr algn="ctr"/>
            <a:r>
              <a:rPr lang="en-IN" sz="750">
                <a:solidFill>
                  <a:srgbClr val="0B2545"/>
                </a:solidFill>
              </a:rPr>
              <a:t>Microaneurysm</a:t>
            </a:r>
          </a:p>
        </p:txBody>
      </p:sp>
      <p:sp>
        <p:nvSpPr>
          <p:cNvPr id="23" name="Rectangle 22">
            <a:extLst>
              <a:ext uri="{FF2B5EF4-FFF2-40B4-BE49-F238E27FC236}">
                <a16:creationId xmlns:a16="http://schemas.microsoft.com/office/drawing/2014/main" id="{05F8DA57-5920-4D04-32CE-25BABC09CF03}"/>
              </a:ext>
            </a:extLst>
          </p:cNvPr>
          <p:cNvSpPr/>
          <p:nvPr/>
        </p:nvSpPr>
        <p:spPr>
          <a:xfrm>
            <a:off x="9626600" y="4140200"/>
            <a:ext cx="2184400" cy="558800"/>
          </a:xfrm>
          <a:prstGeom prst="rect">
            <a:avLst/>
          </a:prstGeom>
          <a:solidFill>
            <a:srgbClr val="EDF0F2"/>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63500" tIns="25400" rIns="63500" bIns="25400" rtlCol="0" anchor="t"/>
          <a:lstStyle/>
          <a:p>
            <a:endParaRPr lang="en-IN" sz="900">
              <a:solidFill>
                <a:srgbClr val="0B2545"/>
              </a:solidFill>
              <a:latin typeface="Calibri" panose="020F0502020204030204" pitchFamily="34" charset="0"/>
            </a:endParaRPr>
          </a:p>
        </p:txBody>
      </p:sp>
      <p:sp>
        <p:nvSpPr>
          <p:cNvPr id="24" name="TextBox 23">
            <a:extLst>
              <a:ext uri="{FF2B5EF4-FFF2-40B4-BE49-F238E27FC236}">
                <a16:creationId xmlns:a16="http://schemas.microsoft.com/office/drawing/2014/main" id="{20736183-3A3B-6218-9C5D-E36515E1B4ED}"/>
              </a:ext>
            </a:extLst>
          </p:cNvPr>
          <p:cNvSpPr txBox="1"/>
          <p:nvPr/>
        </p:nvSpPr>
        <p:spPr>
          <a:xfrm>
            <a:off x="9702800" y="4178300"/>
            <a:ext cx="2032000" cy="215444"/>
          </a:xfrm>
          <a:prstGeom prst="rect">
            <a:avLst/>
          </a:prstGeom>
          <a:noFill/>
        </p:spPr>
        <p:txBody>
          <a:bodyPr vert="horz" wrap="square" lIns="0" tIns="0" rIns="0" bIns="0" rtlCol="0" anchor="t">
            <a:spAutoFit/>
          </a:bodyPr>
          <a:lstStyle/>
          <a:p>
            <a:pPr algn="ctr"/>
            <a:r>
              <a:rPr lang="en-IN" sz="1400" b="1">
                <a:solidFill>
                  <a:srgbClr val="0E7C86"/>
                </a:solidFill>
              </a:rPr>
              <a:t>85.1% sens</a:t>
            </a:r>
          </a:p>
        </p:txBody>
      </p:sp>
      <p:sp>
        <p:nvSpPr>
          <p:cNvPr id="25" name="TextBox 24">
            <a:extLst>
              <a:ext uri="{FF2B5EF4-FFF2-40B4-BE49-F238E27FC236}">
                <a16:creationId xmlns:a16="http://schemas.microsoft.com/office/drawing/2014/main" id="{38DA2647-9BAD-C0E5-5D50-E2B60F378DA8}"/>
              </a:ext>
            </a:extLst>
          </p:cNvPr>
          <p:cNvSpPr txBox="1"/>
          <p:nvPr/>
        </p:nvSpPr>
        <p:spPr>
          <a:xfrm>
            <a:off x="9702800" y="4432300"/>
            <a:ext cx="2032000" cy="115416"/>
          </a:xfrm>
          <a:prstGeom prst="rect">
            <a:avLst/>
          </a:prstGeom>
          <a:noFill/>
        </p:spPr>
        <p:txBody>
          <a:bodyPr vert="horz" wrap="square" lIns="0" tIns="0" rIns="0" bIns="0" rtlCol="0" anchor="t">
            <a:spAutoFit/>
          </a:bodyPr>
          <a:lstStyle/>
          <a:p>
            <a:pPr algn="ctr"/>
            <a:r>
              <a:rPr lang="en-IN" sz="750">
                <a:solidFill>
                  <a:srgbClr val="0B2545"/>
                </a:solidFill>
              </a:rPr>
              <a:t>Haemorrhage flag (region)</a:t>
            </a:r>
          </a:p>
        </p:txBody>
      </p:sp>
      <p:sp>
        <p:nvSpPr>
          <p:cNvPr id="26" name="TextBox 25">
            <a:extLst>
              <a:ext uri="{FF2B5EF4-FFF2-40B4-BE49-F238E27FC236}">
                <a16:creationId xmlns:a16="http://schemas.microsoft.com/office/drawing/2014/main" id="{960EC322-7EE6-3C2F-FB37-19FF5C0C7EFA}"/>
              </a:ext>
            </a:extLst>
          </p:cNvPr>
          <p:cNvSpPr txBox="1"/>
          <p:nvPr/>
        </p:nvSpPr>
        <p:spPr>
          <a:xfrm>
            <a:off x="381000" y="4826000"/>
            <a:ext cx="3708400" cy="146194"/>
          </a:xfrm>
          <a:prstGeom prst="rect">
            <a:avLst/>
          </a:prstGeom>
          <a:noFill/>
        </p:spPr>
        <p:txBody>
          <a:bodyPr vert="horz" wrap="square" lIns="0" tIns="0" rIns="0" bIns="0" rtlCol="0" anchor="t">
            <a:spAutoFit/>
          </a:bodyPr>
          <a:lstStyle/>
          <a:p>
            <a:r>
              <a:rPr lang="en-IN" sz="950" b="1">
                <a:solidFill>
                  <a:srgbClr val="0E7C86"/>
                </a:solidFill>
              </a:rPr>
              <a:t>Datasets</a:t>
            </a:r>
          </a:p>
        </p:txBody>
      </p:sp>
      <p:sp>
        <p:nvSpPr>
          <p:cNvPr id="27" name="TextBox 26">
            <a:extLst>
              <a:ext uri="{FF2B5EF4-FFF2-40B4-BE49-F238E27FC236}">
                <a16:creationId xmlns:a16="http://schemas.microsoft.com/office/drawing/2014/main" id="{955B413A-3972-AE19-0310-87AD61AF7B2E}"/>
              </a:ext>
            </a:extLst>
          </p:cNvPr>
          <p:cNvSpPr txBox="1"/>
          <p:nvPr/>
        </p:nvSpPr>
        <p:spPr>
          <a:xfrm>
            <a:off x="381000" y="5029200"/>
            <a:ext cx="3708400" cy="346249"/>
          </a:xfrm>
          <a:prstGeom prst="rect">
            <a:avLst/>
          </a:prstGeom>
          <a:noFill/>
        </p:spPr>
        <p:txBody>
          <a:bodyPr vert="horz" wrap="square" lIns="0" tIns="0" rIns="0" bIns="0" rtlCol="0" anchor="t">
            <a:spAutoFit/>
          </a:bodyPr>
          <a:lstStyle/>
          <a:p>
            <a:r>
              <a:rPr lang="en-IN" sz="750">
                <a:solidFill>
                  <a:srgbClr val="0B2545"/>
                </a:solidFill>
              </a:rPr>
              <a:t>APTOS 2019 — kaggle.com/c/aptos2019-blindness-detection</a:t>
            </a:r>
          </a:p>
          <a:p>
            <a:r>
              <a:rPr lang="en-IN" sz="750">
                <a:solidFill>
                  <a:srgbClr val="0B2545"/>
                </a:solidFill>
              </a:rPr>
              <a:t>IDRiD — ieee-dataport.org/open-access/indian-diabetic-retinopathy-image-dataset-idrid</a:t>
            </a:r>
          </a:p>
          <a:p>
            <a:r>
              <a:rPr lang="en-IN" sz="750">
                <a:solidFill>
                  <a:srgbClr val="0B2545"/>
                </a:solidFill>
              </a:rPr>
              <a:t>Both used under their published licences (CC-BY-4.0 for IDRiD)</a:t>
            </a:r>
          </a:p>
        </p:txBody>
      </p:sp>
      <p:sp>
        <p:nvSpPr>
          <p:cNvPr id="28" name="TextBox 27">
            <a:extLst>
              <a:ext uri="{FF2B5EF4-FFF2-40B4-BE49-F238E27FC236}">
                <a16:creationId xmlns:a16="http://schemas.microsoft.com/office/drawing/2014/main" id="{4BE3F3DF-2CC7-3E85-563C-06DD68B343BC}"/>
              </a:ext>
            </a:extLst>
          </p:cNvPr>
          <p:cNvSpPr txBox="1"/>
          <p:nvPr/>
        </p:nvSpPr>
        <p:spPr>
          <a:xfrm>
            <a:off x="4267200" y="4826000"/>
            <a:ext cx="3708400" cy="146194"/>
          </a:xfrm>
          <a:prstGeom prst="rect">
            <a:avLst/>
          </a:prstGeom>
          <a:noFill/>
        </p:spPr>
        <p:txBody>
          <a:bodyPr vert="horz" wrap="square" lIns="0" tIns="0" rIns="0" bIns="0" rtlCol="0" anchor="t">
            <a:spAutoFit/>
          </a:bodyPr>
          <a:lstStyle/>
          <a:p>
            <a:r>
              <a:rPr lang="en-IN" sz="950" b="1">
                <a:solidFill>
                  <a:srgbClr val="0E7C86"/>
                </a:solidFill>
              </a:rPr>
              <a:t>Clinical standards</a:t>
            </a:r>
          </a:p>
        </p:txBody>
      </p:sp>
      <p:sp>
        <p:nvSpPr>
          <p:cNvPr id="29" name="TextBox 28">
            <a:extLst>
              <a:ext uri="{FF2B5EF4-FFF2-40B4-BE49-F238E27FC236}">
                <a16:creationId xmlns:a16="http://schemas.microsoft.com/office/drawing/2014/main" id="{5D8AF44D-AFA1-D456-76EB-679BF8EA421B}"/>
              </a:ext>
            </a:extLst>
          </p:cNvPr>
          <p:cNvSpPr txBox="1"/>
          <p:nvPr/>
        </p:nvSpPr>
        <p:spPr>
          <a:xfrm>
            <a:off x="4267200" y="5029200"/>
            <a:ext cx="3708400" cy="346249"/>
          </a:xfrm>
          <a:prstGeom prst="rect">
            <a:avLst/>
          </a:prstGeom>
          <a:noFill/>
        </p:spPr>
        <p:txBody>
          <a:bodyPr vert="horz" wrap="square" lIns="0" tIns="0" rIns="0" bIns="0" rtlCol="0" anchor="t">
            <a:spAutoFit/>
          </a:bodyPr>
          <a:lstStyle/>
          <a:p>
            <a:r>
              <a:rPr lang="en-IN" sz="750">
                <a:solidFill>
                  <a:srgbClr val="0B2545"/>
                </a:solidFill>
              </a:rPr>
              <a:t>Wilkinson et al., International Clinical DR Severity Scale, Ophthalmology 2003;110:1677</a:t>
            </a:r>
          </a:p>
          <a:p>
            <a:r>
              <a:rPr lang="en-IN" sz="750">
                <a:solidFill>
                  <a:srgbClr val="0B2545"/>
                </a:solidFill>
              </a:rPr>
              <a:t>ICMR-INDIAB, Lancet Diabetes &amp; Endocrinology 2023</a:t>
            </a:r>
          </a:p>
          <a:p>
            <a:r>
              <a:rPr lang="en-IN" sz="750">
                <a:solidFill>
                  <a:srgbClr val="0B2545"/>
                </a:solidFill>
              </a:rPr>
              <a:t>NPCBVI, Ministry of Health &amp; Family Welfare</a:t>
            </a:r>
          </a:p>
        </p:txBody>
      </p:sp>
      <p:sp>
        <p:nvSpPr>
          <p:cNvPr id="30" name="TextBox 29">
            <a:extLst>
              <a:ext uri="{FF2B5EF4-FFF2-40B4-BE49-F238E27FC236}">
                <a16:creationId xmlns:a16="http://schemas.microsoft.com/office/drawing/2014/main" id="{7072D24B-A910-72DE-9768-07DAF62A7FEC}"/>
              </a:ext>
            </a:extLst>
          </p:cNvPr>
          <p:cNvSpPr txBox="1"/>
          <p:nvPr/>
        </p:nvSpPr>
        <p:spPr>
          <a:xfrm>
            <a:off x="8153400" y="4826000"/>
            <a:ext cx="3708400" cy="146194"/>
          </a:xfrm>
          <a:prstGeom prst="rect">
            <a:avLst/>
          </a:prstGeom>
          <a:noFill/>
        </p:spPr>
        <p:txBody>
          <a:bodyPr vert="horz" wrap="square" lIns="0" tIns="0" rIns="0" bIns="0" rtlCol="0" anchor="t">
            <a:spAutoFit/>
          </a:bodyPr>
          <a:lstStyle/>
          <a:p>
            <a:r>
              <a:rPr lang="en-IN" sz="950" b="1">
                <a:solidFill>
                  <a:srgbClr val="0E7C86"/>
                </a:solidFill>
              </a:rPr>
              <a:t>Methods and tooling</a:t>
            </a:r>
          </a:p>
        </p:txBody>
      </p:sp>
      <p:sp>
        <p:nvSpPr>
          <p:cNvPr id="31" name="TextBox 30">
            <a:extLst>
              <a:ext uri="{FF2B5EF4-FFF2-40B4-BE49-F238E27FC236}">
                <a16:creationId xmlns:a16="http://schemas.microsoft.com/office/drawing/2014/main" id="{12014573-794F-2ED5-920A-665A756BFACF}"/>
              </a:ext>
            </a:extLst>
          </p:cNvPr>
          <p:cNvSpPr txBox="1"/>
          <p:nvPr/>
        </p:nvSpPr>
        <p:spPr>
          <a:xfrm>
            <a:off x="8153400" y="5029200"/>
            <a:ext cx="3708400" cy="346249"/>
          </a:xfrm>
          <a:prstGeom prst="rect">
            <a:avLst/>
          </a:prstGeom>
          <a:noFill/>
        </p:spPr>
        <p:txBody>
          <a:bodyPr vert="horz" wrap="square" lIns="0" tIns="0" rIns="0" bIns="0" rtlCol="0" anchor="t">
            <a:spAutoFit/>
          </a:bodyPr>
          <a:lstStyle/>
          <a:p>
            <a:r>
              <a:rPr lang="en-IN" sz="750">
                <a:solidFill>
                  <a:srgbClr val="0B2545"/>
                </a:solidFill>
              </a:rPr>
              <a:t>Selvaraju et al., Grad-CAM, ICCV 2017</a:t>
            </a:r>
          </a:p>
          <a:p>
            <a:r>
              <a:rPr lang="en-IN" sz="750">
                <a:solidFill>
                  <a:srgbClr val="0B2545"/>
                </a:solidFill>
              </a:rPr>
              <a:t>Porwal et al., IDRiD, Medical Image Analysis 2020;59:101561</a:t>
            </a:r>
          </a:p>
          <a:p>
            <a:r>
              <a:rPr lang="en-IN" sz="750">
                <a:solidFill>
                  <a:srgbClr val="0B2545"/>
                </a:solidFill>
              </a:rPr>
              <a:t>MathWorks: gradCAM, adapthisteq, trainnet, Simulink</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1407</Words>
  <Application>Microsoft Office PowerPoint</Application>
  <PresentationFormat>Widescreen</PresentationFormat>
  <Paragraphs>237</Paragraphs>
  <Slides>6</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Hell Walker</cp:lastModifiedBy>
  <cp:revision>149</cp:revision>
  <dcterms:created xsi:type="dcterms:W3CDTF">2013-12-12T18:46:50Z</dcterms:created>
  <dcterms:modified xsi:type="dcterms:W3CDTF">2026-09-05T16:30:03Z</dcterms:modified>
  <cp:category/>
</cp:coreProperties>
</file>